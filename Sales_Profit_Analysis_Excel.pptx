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Inter Bold" charset="1" panose="02000503000000020004"/>
      <p:regular r:id="rId16"/>
    </p:embeddedFont>
    <p:embeddedFont>
      <p:font typeface="Canva Sans" charset="1" panose="020B0503030501040103"/>
      <p:regular r:id="rId17"/>
    </p:embeddedFont>
    <p:embeddedFont>
      <p:font typeface="Inter" charset="1" panose="02000503000000020004"/>
      <p:regular r:id="rId18"/>
    </p:embeddedFont>
    <p:embeddedFont>
      <p:font typeface="Inter Medium" charset="1" panose="020005030000000200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a:off x="1472853" y="7143905"/>
            <a:ext cx="0" cy="1061085"/>
          </a:xfrm>
          <a:prstGeom prst="line">
            <a:avLst/>
          </a:prstGeom>
          <a:ln cap="flat" w="38100">
            <a:solidFill>
              <a:srgbClr val="FFDE59"/>
            </a:solidFill>
            <a:prstDash val="solid"/>
            <a:headEnd type="none" len="sm" w="sm"/>
            <a:tailEnd type="none" len="sm" w="sm"/>
          </a:ln>
        </p:spPr>
      </p:sp>
      <p:sp>
        <p:nvSpPr>
          <p:cNvPr name="AutoShape 4" id="4"/>
          <p:cNvSpPr/>
          <p:nvPr/>
        </p:nvSpPr>
        <p:spPr>
          <a:xfrm flipV="true">
            <a:off x="5411599" y="5785124"/>
            <a:ext cx="7464801" cy="0"/>
          </a:xfrm>
          <a:prstGeom prst="line">
            <a:avLst/>
          </a:prstGeom>
          <a:ln cap="flat" w="38100">
            <a:solidFill>
              <a:srgbClr val="FFDE59"/>
            </a:solidFill>
            <a:prstDash val="solid"/>
            <a:headEnd type="none" len="sm" w="sm"/>
            <a:tailEnd type="none" len="sm" w="sm"/>
          </a:ln>
        </p:spPr>
      </p:sp>
      <p:sp>
        <p:nvSpPr>
          <p:cNvPr name="TextBox 5" id="5"/>
          <p:cNvSpPr txBox="true"/>
          <p:nvPr/>
        </p:nvSpPr>
        <p:spPr>
          <a:xfrm rot="0">
            <a:off x="3315756" y="2511867"/>
            <a:ext cx="11656488" cy="2183728"/>
          </a:xfrm>
          <a:prstGeom prst="rect">
            <a:avLst/>
          </a:prstGeom>
        </p:spPr>
        <p:txBody>
          <a:bodyPr anchor="t" rtlCol="false" tIns="0" lIns="0" bIns="0" rIns="0">
            <a:spAutoFit/>
          </a:bodyPr>
          <a:lstStyle/>
          <a:p>
            <a:pPr algn="ctr">
              <a:lnSpc>
                <a:spcPts val="8787"/>
              </a:lnSpc>
              <a:spcBef>
                <a:spcPct val="0"/>
              </a:spcBef>
            </a:pPr>
            <a:r>
              <a:rPr lang="en-US" b="true" sz="6276">
                <a:solidFill>
                  <a:srgbClr val="FFFFFF"/>
                </a:solidFill>
                <a:latin typeface="Inter Bold"/>
                <a:ea typeface="Inter Bold"/>
                <a:cs typeface="Inter Bold"/>
                <a:sym typeface="Inter Bold"/>
              </a:rPr>
              <a:t>Sales and Profit Analysis by Product Category</a:t>
            </a:r>
          </a:p>
        </p:txBody>
      </p:sp>
      <p:sp>
        <p:nvSpPr>
          <p:cNvPr name="TextBox 6" id="6"/>
          <p:cNvSpPr txBox="true"/>
          <p:nvPr/>
        </p:nvSpPr>
        <p:spPr>
          <a:xfrm rot="0">
            <a:off x="1781614" y="7105805"/>
            <a:ext cx="3048958" cy="1099185"/>
          </a:xfrm>
          <a:prstGeom prst="rect">
            <a:avLst/>
          </a:prstGeom>
        </p:spPr>
        <p:txBody>
          <a:bodyPr anchor="t" rtlCol="false" tIns="0" lIns="0" bIns="0" rIns="0">
            <a:spAutoFit/>
          </a:bodyPr>
          <a:lstStyle/>
          <a:p>
            <a:pPr algn="l">
              <a:lnSpc>
                <a:spcPts val="2951"/>
              </a:lnSpc>
              <a:spcBef>
                <a:spcPct val="0"/>
              </a:spcBef>
            </a:pPr>
            <a:r>
              <a:rPr lang="en-US" sz="2108">
                <a:solidFill>
                  <a:srgbClr val="B8B8B8"/>
                </a:solidFill>
                <a:latin typeface="Canva Sans"/>
                <a:ea typeface="Canva Sans"/>
                <a:cs typeface="Canva Sans"/>
                <a:sym typeface="Canva Sans"/>
              </a:rPr>
              <a:t>An</a:t>
            </a:r>
            <a:r>
              <a:rPr lang="en-US" sz="2108">
                <a:solidFill>
                  <a:srgbClr val="B8B8B8"/>
                </a:solidFill>
                <a:latin typeface="Canva Sans"/>
                <a:ea typeface="Canva Sans"/>
                <a:cs typeface="Canva Sans"/>
                <a:sym typeface="Canva Sans"/>
              </a:rPr>
              <a:t>isa Dwi Alfira</a:t>
            </a:r>
          </a:p>
          <a:p>
            <a:pPr algn="l">
              <a:lnSpc>
                <a:spcPts val="2951"/>
              </a:lnSpc>
              <a:spcBef>
                <a:spcPct val="0"/>
              </a:spcBef>
            </a:pPr>
            <a:r>
              <a:rPr lang="en-US" sz="2108">
                <a:solidFill>
                  <a:srgbClr val="B8B8B8"/>
                </a:solidFill>
                <a:latin typeface="Canva Sans"/>
                <a:ea typeface="Canva Sans"/>
                <a:cs typeface="Canva Sans"/>
                <a:sym typeface="Canva Sans"/>
              </a:rPr>
              <a:t>Tools: Microsoft Excel</a:t>
            </a:r>
          </a:p>
          <a:p>
            <a:pPr algn="l">
              <a:lnSpc>
                <a:spcPts val="2951"/>
              </a:lnSpc>
              <a:spcBef>
                <a:spcPct val="0"/>
              </a:spcBef>
            </a:pPr>
            <a:r>
              <a:rPr lang="en-US" sz="2108">
                <a:solidFill>
                  <a:srgbClr val="B8B8B8"/>
                </a:solidFill>
                <a:latin typeface="Canva Sans"/>
                <a:ea typeface="Canva Sans"/>
                <a:cs typeface="Canva Sans"/>
                <a:sym typeface="Canva Sans"/>
              </a:rPr>
              <a:t> 2025</a:t>
            </a:r>
          </a:p>
        </p:txBody>
      </p:sp>
      <p:sp>
        <p:nvSpPr>
          <p:cNvPr name="TextBox 7" id="7"/>
          <p:cNvSpPr txBox="true"/>
          <p:nvPr/>
        </p:nvSpPr>
        <p:spPr>
          <a:xfrm rot="0">
            <a:off x="4792472" y="4924425"/>
            <a:ext cx="8752578" cy="679826"/>
          </a:xfrm>
          <a:prstGeom prst="rect">
            <a:avLst/>
          </a:prstGeom>
        </p:spPr>
        <p:txBody>
          <a:bodyPr anchor="t" rtlCol="false" tIns="0" lIns="0" bIns="0" rIns="0">
            <a:spAutoFit/>
          </a:bodyPr>
          <a:lstStyle/>
          <a:p>
            <a:pPr algn="ctr">
              <a:lnSpc>
                <a:spcPts val="5579"/>
              </a:lnSpc>
              <a:spcBef>
                <a:spcPct val="0"/>
              </a:spcBef>
            </a:pPr>
            <a:r>
              <a:rPr lang="en-US" sz="3985">
                <a:solidFill>
                  <a:srgbClr val="FFFFFF"/>
                </a:solidFill>
                <a:latin typeface="Inter"/>
                <a:ea typeface="Inter"/>
                <a:cs typeface="Inter"/>
                <a:sym typeface="Inter"/>
              </a:rPr>
              <a:t>Using Sample Superstore Dataset</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436573" y="-3314429"/>
            <a:ext cx="6801447" cy="4502197"/>
            <a:chOff x="0" y="0"/>
            <a:chExt cx="1791328" cy="1185764"/>
          </a:xfrm>
        </p:grpSpPr>
        <p:sp>
          <p:nvSpPr>
            <p:cNvPr name="Freeform 3" id="3"/>
            <p:cNvSpPr/>
            <p:nvPr/>
          </p:nvSpPr>
          <p:spPr>
            <a:xfrm flipH="false" flipV="false" rot="0">
              <a:off x="0" y="0"/>
              <a:ext cx="1791327" cy="1185764"/>
            </a:xfrm>
            <a:custGeom>
              <a:avLst/>
              <a:gdLst/>
              <a:ahLst/>
              <a:cxnLst/>
              <a:rect r="r" b="b" t="t" l="l"/>
              <a:pathLst>
                <a:path h="1185764" w="1791327">
                  <a:moveTo>
                    <a:pt x="0" y="0"/>
                  </a:moveTo>
                  <a:lnTo>
                    <a:pt x="1791327" y="0"/>
                  </a:lnTo>
                  <a:lnTo>
                    <a:pt x="1791327" y="1185764"/>
                  </a:lnTo>
                  <a:lnTo>
                    <a:pt x="0" y="1185764"/>
                  </a:lnTo>
                  <a:close/>
                </a:path>
              </a:pathLst>
            </a:custGeom>
            <a:solidFill>
              <a:srgbClr val="FFDE59"/>
            </a:solidFill>
          </p:spPr>
        </p:sp>
        <p:sp>
          <p:nvSpPr>
            <p:cNvPr name="TextBox 4" id="4"/>
            <p:cNvSpPr txBox="true"/>
            <p:nvPr/>
          </p:nvSpPr>
          <p:spPr>
            <a:xfrm>
              <a:off x="0" y="-38100"/>
              <a:ext cx="1791328" cy="1223864"/>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16851448" y="8662288"/>
            <a:ext cx="6801447" cy="4502197"/>
            <a:chOff x="0" y="0"/>
            <a:chExt cx="1791328" cy="1185764"/>
          </a:xfrm>
        </p:grpSpPr>
        <p:sp>
          <p:nvSpPr>
            <p:cNvPr name="Freeform 6" id="6"/>
            <p:cNvSpPr/>
            <p:nvPr/>
          </p:nvSpPr>
          <p:spPr>
            <a:xfrm flipH="false" flipV="false" rot="0">
              <a:off x="0" y="0"/>
              <a:ext cx="1791327" cy="1185764"/>
            </a:xfrm>
            <a:custGeom>
              <a:avLst/>
              <a:gdLst/>
              <a:ahLst/>
              <a:cxnLst/>
              <a:rect r="r" b="b" t="t" l="l"/>
              <a:pathLst>
                <a:path h="1185764" w="1791327">
                  <a:moveTo>
                    <a:pt x="0" y="0"/>
                  </a:moveTo>
                  <a:lnTo>
                    <a:pt x="1791327" y="0"/>
                  </a:lnTo>
                  <a:lnTo>
                    <a:pt x="1791327" y="1185764"/>
                  </a:lnTo>
                  <a:lnTo>
                    <a:pt x="0" y="1185764"/>
                  </a:lnTo>
                  <a:close/>
                </a:path>
              </a:pathLst>
            </a:custGeom>
            <a:solidFill>
              <a:srgbClr val="000000"/>
            </a:solidFill>
          </p:spPr>
        </p:sp>
        <p:sp>
          <p:nvSpPr>
            <p:cNvPr name="TextBox 7" id="7"/>
            <p:cNvSpPr txBox="true"/>
            <p:nvPr/>
          </p:nvSpPr>
          <p:spPr>
            <a:xfrm>
              <a:off x="0" y="-38100"/>
              <a:ext cx="1791328" cy="1223864"/>
            </a:xfrm>
            <a:prstGeom prst="rect">
              <a:avLst/>
            </a:prstGeom>
          </p:spPr>
          <p:txBody>
            <a:bodyPr anchor="ctr" rtlCol="false" tIns="50800" lIns="50800" bIns="50800" rIns="50800"/>
            <a:lstStyle/>
            <a:p>
              <a:pPr algn="ctr">
                <a:lnSpc>
                  <a:spcPts val="2940"/>
                </a:lnSpc>
              </a:pPr>
            </a:p>
          </p:txBody>
        </p:sp>
      </p:grpSp>
      <p:sp>
        <p:nvSpPr>
          <p:cNvPr name="TextBox 8" id="8"/>
          <p:cNvSpPr txBox="true"/>
          <p:nvPr/>
        </p:nvSpPr>
        <p:spPr>
          <a:xfrm rot="0">
            <a:off x="1668749" y="1285003"/>
            <a:ext cx="12397945" cy="958372"/>
          </a:xfrm>
          <a:prstGeom prst="rect">
            <a:avLst/>
          </a:prstGeom>
        </p:spPr>
        <p:txBody>
          <a:bodyPr anchor="t" rtlCol="false" tIns="0" lIns="0" bIns="0" rIns="0">
            <a:spAutoFit/>
          </a:bodyPr>
          <a:lstStyle/>
          <a:p>
            <a:pPr algn="l">
              <a:lnSpc>
                <a:spcPts val="7873"/>
              </a:lnSpc>
              <a:spcBef>
                <a:spcPct val="0"/>
              </a:spcBef>
            </a:pPr>
            <a:r>
              <a:rPr lang="en-US" sz="5624" b="true">
                <a:solidFill>
                  <a:srgbClr val="000000"/>
                </a:solidFill>
                <a:latin typeface="Inter Bold"/>
                <a:ea typeface="Inter Bold"/>
                <a:cs typeface="Inter Bold"/>
                <a:sym typeface="Inter Bold"/>
              </a:rPr>
              <a:t>Probem Statement and Object </a:t>
            </a:r>
          </a:p>
        </p:txBody>
      </p:sp>
      <p:sp>
        <p:nvSpPr>
          <p:cNvPr name="TextBox 9" id="9"/>
          <p:cNvSpPr txBox="true"/>
          <p:nvPr/>
        </p:nvSpPr>
        <p:spPr>
          <a:xfrm rot="0">
            <a:off x="1678274" y="3500906"/>
            <a:ext cx="15017283" cy="2165350"/>
          </a:xfrm>
          <a:prstGeom prst="rect">
            <a:avLst/>
          </a:prstGeom>
        </p:spPr>
        <p:txBody>
          <a:bodyPr anchor="t" rtlCol="false" tIns="0" lIns="0" bIns="0" rIns="0">
            <a:spAutoFit/>
          </a:bodyPr>
          <a:lstStyle/>
          <a:p>
            <a:pPr algn="l" marL="0" indent="0" lvl="0">
              <a:lnSpc>
                <a:spcPts val="3499"/>
              </a:lnSpc>
              <a:spcBef>
                <a:spcPct val="0"/>
              </a:spcBef>
            </a:pPr>
            <a:r>
              <a:rPr lang="en-US" sz="2499">
                <a:solidFill>
                  <a:srgbClr val="000000"/>
                </a:solidFill>
                <a:latin typeface="Inter"/>
                <a:ea typeface="Inter"/>
                <a:cs typeface="Inter"/>
                <a:sym typeface="Inter"/>
              </a:rPr>
              <a:t>Unde</a:t>
            </a:r>
            <a:r>
              <a:rPr lang="en-US" sz="2499" strike="noStrike" u="none">
                <a:solidFill>
                  <a:srgbClr val="000000"/>
                </a:solidFill>
                <a:latin typeface="Inter"/>
                <a:ea typeface="Inter"/>
                <a:cs typeface="Inter"/>
                <a:sym typeface="Inter"/>
              </a:rPr>
              <a:t>r</a:t>
            </a:r>
            <a:r>
              <a:rPr lang="en-US" sz="2499" strike="noStrike" u="none">
                <a:solidFill>
                  <a:srgbClr val="000000"/>
                </a:solidFill>
                <a:latin typeface="Inter"/>
                <a:ea typeface="Inter"/>
                <a:cs typeface="Inter"/>
                <a:sym typeface="Inter"/>
              </a:rPr>
              <a:t>standing</a:t>
            </a:r>
            <a:r>
              <a:rPr lang="en-US" sz="2499" strike="noStrike" u="none">
                <a:solidFill>
                  <a:srgbClr val="000000"/>
                </a:solidFill>
                <a:latin typeface="Inter"/>
                <a:ea typeface="Inter"/>
                <a:cs typeface="Inter"/>
                <a:sym typeface="Inter"/>
              </a:rPr>
              <a:t> s</a:t>
            </a:r>
            <a:r>
              <a:rPr lang="en-US" sz="2499" strike="noStrike" u="none">
                <a:solidFill>
                  <a:srgbClr val="000000"/>
                </a:solidFill>
                <a:latin typeface="Inter"/>
                <a:ea typeface="Inter"/>
                <a:cs typeface="Inter"/>
                <a:sym typeface="Inter"/>
              </a:rPr>
              <a:t>ales</a:t>
            </a:r>
            <a:r>
              <a:rPr lang="en-US" sz="2499" strike="noStrike" u="none">
                <a:solidFill>
                  <a:srgbClr val="000000"/>
                </a:solidFill>
                <a:latin typeface="Inter"/>
                <a:ea typeface="Inter"/>
                <a:cs typeface="Inter"/>
                <a:sym typeface="Inter"/>
              </a:rPr>
              <a:t> </a:t>
            </a:r>
            <a:r>
              <a:rPr lang="en-US" sz="2499" strike="noStrike" u="none">
                <a:solidFill>
                  <a:srgbClr val="000000"/>
                </a:solidFill>
                <a:latin typeface="Inter"/>
                <a:ea typeface="Inter"/>
                <a:cs typeface="Inter"/>
                <a:sym typeface="Inter"/>
              </a:rPr>
              <a:t>an</a:t>
            </a:r>
            <a:r>
              <a:rPr lang="en-US" sz="2499" strike="noStrike" u="none">
                <a:solidFill>
                  <a:srgbClr val="000000"/>
                </a:solidFill>
                <a:latin typeface="Inter"/>
                <a:ea typeface="Inter"/>
                <a:cs typeface="Inter"/>
                <a:sym typeface="Inter"/>
              </a:rPr>
              <a:t>d</a:t>
            </a:r>
            <a:r>
              <a:rPr lang="en-US" sz="2499" strike="noStrike" u="none">
                <a:solidFill>
                  <a:srgbClr val="000000"/>
                </a:solidFill>
                <a:latin typeface="Inter"/>
                <a:ea typeface="Inter"/>
                <a:cs typeface="Inter"/>
                <a:sym typeface="Inter"/>
              </a:rPr>
              <a:t> pr</a:t>
            </a:r>
            <a:r>
              <a:rPr lang="en-US" sz="2499" strike="noStrike" u="none">
                <a:solidFill>
                  <a:srgbClr val="000000"/>
                </a:solidFill>
                <a:latin typeface="Inter"/>
                <a:ea typeface="Inter"/>
                <a:cs typeface="Inter"/>
                <a:sym typeface="Inter"/>
              </a:rPr>
              <a:t>o</a:t>
            </a:r>
            <a:r>
              <a:rPr lang="en-US" sz="2499" strike="noStrike" u="none">
                <a:solidFill>
                  <a:srgbClr val="000000"/>
                </a:solidFill>
                <a:latin typeface="Inter"/>
                <a:ea typeface="Inter"/>
                <a:cs typeface="Inter"/>
                <a:sym typeface="Inter"/>
              </a:rPr>
              <a:t>f</a:t>
            </a:r>
            <a:r>
              <a:rPr lang="en-US" sz="2499" strike="noStrike" u="none">
                <a:solidFill>
                  <a:srgbClr val="000000"/>
                </a:solidFill>
                <a:latin typeface="Inter"/>
                <a:ea typeface="Inter"/>
                <a:cs typeface="Inter"/>
                <a:sym typeface="Inter"/>
              </a:rPr>
              <a:t>it </a:t>
            </a:r>
            <a:r>
              <a:rPr lang="en-US" sz="2499" strike="noStrike" u="none">
                <a:solidFill>
                  <a:srgbClr val="000000"/>
                </a:solidFill>
                <a:latin typeface="Inter"/>
                <a:ea typeface="Inter"/>
                <a:cs typeface="Inter"/>
                <a:sym typeface="Inter"/>
              </a:rPr>
              <a:t>p</a:t>
            </a:r>
            <a:r>
              <a:rPr lang="en-US" sz="2499" strike="noStrike" u="none">
                <a:solidFill>
                  <a:srgbClr val="000000"/>
                </a:solidFill>
                <a:latin typeface="Inter"/>
                <a:ea typeface="Inter"/>
                <a:cs typeface="Inter"/>
                <a:sym typeface="Inter"/>
              </a:rPr>
              <a:t>e</a:t>
            </a:r>
            <a:r>
              <a:rPr lang="en-US" sz="2499" strike="noStrike" u="none">
                <a:solidFill>
                  <a:srgbClr val="000000"/>
                </a:solidFill>
                <a:latin typeface="Inter"/>
                <a:ea typeface="Inter"/>
                <a:cs typeface="Inter"/>
                <a:sym typeface="Inter"/>
              </a:rPr>
              <a:t>rf</a:t>
            </a:r>
            <a:r>
              <a:rPr lang="en-US" sz="2499" strike="noStrike" u="none">
                <a:solidFill>
                  <a:srgbClr val="000000"/>
                </a:solidFill>
                <a:latin typeface="Inter"/>
                <a:ea typeface="Inter"/>
                <a:cs typeface="Inter"/>
                <a:sym typeface="Inter"/>
              </a:rPr>
              <a:t>o</a:t>
            </a:r>
            <a:r>
              <a:rPr lang="en-US" sz="2499" strike="noStrike" u="none">
                <a:solidFill>
                  <a:srgbClr val="000000"/>
                </a:solidFill>
                <a:latin typeface="Inter"/>
                <a:ea typeface="Inter"/>
                <a:cs typeface="Inter"/>
                <a:sym typeface="Inter"/>
              </a:rPr>
              <a:t>rma</a:t>
            </a:r>
            <a:r>
              <a:rPr lang="en-US" sz="2499" strike="noStrike" u="none">
                <a:solidFill>
                  <a:srgbClr val="000000"/>
                </a:solidFill>
                <a:latin typeface="Inter"/>
                <a:ea typeface="Inter"/>
                <a:cs typeface="Inter"/>
                <a:sym typeface="Inter"/>
              </a:rPr>
              <a:t>nce a</a:t>
            </a:r>
            <a:r>
              <a:rPr lang="en-US" sz="2499" strike="noStrike" u="none">
                <a:solidFill>
                  <a:srgbClr val="000000"/>
                </a:solidFill>
                <a:latin typeface="Inter"/>
                <a:ea typeface="Inter"/>
                <a:cs typeface="Inter"/>
                <a:sym typeface="Inter"/>
              </a:rPr>
              <a:t>cro</a:t>
            </a:r>
            <a:r>
              <a:rPr lang="en-US" sz="2499" strike="noStrike" u="none">
                <a:solidFill>
                  <a:srgbClr val="000000"/>
                </a:solidFill>
                <a:latin typeface="Inter"/>
                <a:ea typeface="Inter"/>
                <a:cs typeface="Inter"/>
                <a:sym typeface="Inter"/>
              </a:rPr>
              <a:t>ss p</a:t>
            </a:r>
            <a:r>
              <a:rPr lang="en-US" sz="2499" strike="noStrike" u="none">
                <a:solidFill>
                  <a:srgbClr val="000000"/>
                </a:solidFill>
                <a:latin typeface="Inter"/>
                <a:ea typeface="Inter"/>
                <a:cs typeface="Inter"/>
                <a:sym typeface="Inter"/>
              </a:rPr>
              <a:t>r</a:t>
            </a:r>
            <a:r>
              <a:rPr lang="en-US" sz="2499" strike="noStrike" u="none">
                <a:solidFill>
                  <a:srgbClr val="000000"/>
                </a:solidFill>
                <a:latin typeface="Inter"/>
                <a:ea typeface="Inter"/>
                <a:cs typeface="Inter"/>
                <a:sym typeface="Inter"/>
              </a:rPr>
              <a:t>o</a:t>
            </a:r>
            <a:r>
              <a:rPr lang="en-US" sz="2499" strike="noStrike" u="none">
                <a:solidFill>
                  <a:srgbClr val="000000"/>
                </a:solidFill>
                <a:latin typeface="Inter"/>
                <a:ea typeface="Inter"/>
                <a:cs typeface="Inter"/>
                <a:sym typeface="Inter"/>
              </a:rPr>
              <a:t>d</a:t>
            </a:r>
            <a:r>
              <a:rPr lang="en-US" sz="2499" strike="noStrike" u="none">
                <a:solidFill>
                  <a:srgbClr val="000000"/>
                </a:solidFill>
                <a:latin typeface="Inter"/>
                <a:ea typeface="Inter"/>
                <a:cs typeface="Inter"/>
                <a:sym typeface="Inter"/>
              </a:rPr>
              <a:t>u</a:t>
            </a:r>
            <a:r>
              <a:rPr lang="en-US" sz="2499" strike="noStrike" u="none">
                <a:solidFill>
                  <a:srgbClr val="000000"/>
                </a:solidFill>
                <a:latin typeface="Inter"/>
                <a:ea typeface="Inter"/>
                <a:cs typeface="Inter"/>
                <a:sym typeface="Inter"/>
              </a:rPr>
              <a:t>ct cat</a:t>
            </a:r>
            <a:r>
              <a:rPr lang="en-US" sz="2499" strike="noStrike" u="none">
                <a:solidFill>
                  <a:srgbClr val="000000"/>
                </a:solidFill>
                <a:latin typeface="Inter"/>
                <a:ea typeface="Inter"/>
                <a:cs typeface="Inter"/>
                <a:sym typeface="Inter"/>
              </a:rPr>
              <a:t>e</a:t>
            </a:r>
            <a:r>
              <a:rPr lang="en-US" sz="2499" strike="noStrike" u="none">
                <a:solidFill>
                  <a:srgbClr val="000000"/>
                </a:solidFill>
                <a:latin typeface="Inter"/>
                <a:ea typeface="Inter"/>
                <a:cs typeface="Inter"/>
                <a:sym typeface="Inter"/>
              </a:rPr>
              <a:t>go</a:t>
            </a:r>
            <a:r>
              <a:rPr lang="en-US" sz="2499" strike="noStrike" u="none">
                <a:solidFill>
                  <a:srgbClr val="000000"/>
                </a:solidFill>
                <a:latin typeface="Inter"/>
                <a:ea typeface="Inter"/>
                <a:cs typeface="Inter"/>
                <a:sym typeface="Inter"/>
              </a:rPr>
              <a:t>r</a:t>
            </a:r>
            <a:r>
              <a:rPr lang="en-US" sz="2499" strike="noStrike" u="none">
                <a:solidFill>
                  <a:srgbClr val="000000"/>
                </a:solidFill>
                <a:latin typeface="Inter"/>
                <a:ea typeface="Inter"/>
                <a:cs typeface="Inter"/>
                <a:sym typeface="Inter"/>
              </a:rPr>
              <a:t>i</a:t>
            </a:r>
            <a:r>
              <a:rPr lang="en-US" sz="2499" strike="noStrike" u="none">
                <a:solidFill>
                  <a:srgbClr val="000000"/>
                </a:solidFill>
                <a:latin typeface="Inter"/>
                <a:ea typeface="Inter"/>
                <a:cs typeface="Inter"/>
                <a:sym typeface="Inter"/>
              </a:rPr>
              <a:t>e</a:t>
            </a:r>
            <a:r>
              <a:rPr lang="en-US" sz="2499" strike="noStrike" u="none">
                <a:solidFill>
                  <a:srgbClr val="000000"/>
                </a:solidFill>
                <a:latin typeface="Inter"/>
                <a:ea typeface="Inter"/>
                <a:cs typeface="Inter"/>
                <a:sym typeface="Inter"/>
              </a:rPr>
              <a:t>s</a:t>
            </a:r>
            <a:r>
              <a:rPr lang="en-US" sz="2499" strike="noStrike" u="none">
                <a:solidFill>
                  <a:srgbClr val="000000"/>
                </a:solidFill>
                <a:latin typeface="Inter"/>
                <a:ea typeface="Inter"/>
                <a:cs typeface="Inter"/>
                <a:sym typeface="Inter"/>
              </a:rPr>
              <a:t> i</a:t>
            </a:r>
            <a:r>
              <a:rPr lang="en-US" sz="2499" strike="noStrike" u="none">
                <a:solidFill>
                  <a:srgbClr val="000000"/>
                </a:solidFill>
                <a:latin typeface="Inter"/>
                <a:ea typeface="Inter"/>
                <a:cs typeface="Inter"/>
                <a:sym typeface="Inter"/>
              </a:rPr>
              <a:t>s</a:t>
            </a:r>
            <a:r>
              <a:rPr lang="en-US" sz="2499" strike="noStrike" u="none">
                <a:solidFill>
                  <a:srgbClr val="000000"/>
                </a:solidFill>
                <a:latin typeface="Inter"/>
                <a:ea typeface="Inter"/>
                <a:cs typeface="Inter"/>
                <a:sym typeface="Inter"/>
              </a:rPr>
              <a:t> </a:t>
            </a:r>
            <a:r>
              <a:rPr lang="en-US" sz="2499" strike="noStrike" u="none">
                <a:solidFill>
                  <a:srgbClr val="000000"/>
                </a:solidFill>
                <a:latin typeface="Inter"/>
                <a:ea typeface="Inter"/>
                <a:cs typeface="Inter"/>
                <a:sym typeface="Inter"/>
              </a:rPr>
              <a:t>esse</a:t>
            </a:r>
            <a:r>
              <a:rPr lang="en-US" sz="2499" strike="noStrike" u="none">
                <a:solidFill>
                  <a:srgbClr val="000000"/>
                </a:solidFill>
                <a:latin typeface="Inter"/>
                <a:ea typeface="Inter"/>
                <a:cs typeface="Inter"/>
                <a:sym typeface="Inter"/>
              </a:rPr>
              <a:t>n</a:t>
            </a:r>
            <a:r>
              <a:rPr lang="en-US" sz="2499" strike="noStrike" u="none">
                <a:solidFill>
                  <a:srgbClr val="000000"/>
                </a:solidFill>
                <a:latin typeface="Inter"/>
                <a:ea typeface="Inter"/>
                <a:cs typeface="Inter"/>
                <a:sym typeface="Inter"/>
              </a:rPr>
              <a:t>tial</a:t>
            </a:r>
            <a:r>
              <a:rPr lang="en-US" sz="2499" strike="noStrike" u="none">
                <a:solidFill>
                  <a:srgbClr val="000000"/>
                </a:solidFill>
                <a:latin typeface="Inter"/>
                <a:ea typeface="Inter"/>
                <a:cs typeface="Inter"/>
                <a:sym typeface="Inter"/>
              </a:rPr>
              <a:t> </a:t>
            </a:r>
            <a:r>
              <a:rPr lang="en-US" sz="2499" strike="noStrike" u="none">
                <a:solidFill>
                  <a:srgbClr val="000000"/>
                </a:solidFill>
                <a:latin typeface="Inter"/>
                <a:ea typeface="Inter"/>
                <a:cs typeface="Inter"/>
                <a:sym typeface="Inter"/>
              </a:rPr>
              <a:t>f</a:t>
            </a:r>
            <a:r>
              <a:rPr lang="en-US" sz="2499" strike="noStrike" u="none">
                <a:solidFill>
                  <a:srgbClr val="000000"/>
                </a:solidFill>
                <a:latin typeface="Inter"/>
                <a:ea typeface="Inter"/>
                <a:cs typeface="Inter"/>
                <a:sym typeface="Inter"/>
              </a:rPr>
              <a:t>o</a:t>
            </a:r>
            <a:r>
              <a:rPr lang="en-US" sz="2499" strike="noStrike" u="none">
                <a:solidFill>
                  <a:srgbClr val="000000"/>
                </a:solidFill>
                <a:latin typeface="Inter"/>
                <a:ea typeface="Inter"/>
                <a:cs typeface="Inter"/>
                <a:sym typeface="Inter"/>
              </a:rPr>
              <a:t>r</a:t>
            </a:r>
            <a:r>
              <a:rPr lang="en-US" sz="2499" strike="noStrike" u="none">
                <a:solidFill>
                  <a:srgbClr val="000000"/>
                </a:solidFill>
                <a:latin typeface="Inter"/>
                <a:ea typeface="Inter"/>
                <a:cs typeface="Inter"/>
                <a:sym typeface="Inter"/>
              </a:rPr>
              <a:t> su</a:t>
            </a:r>
            <a:r>
              <a:rPr lang="en-US" sz="2499" strike="noStrike" u="none">
                <a:solidFill>
                  <a:srgbClr val="000000"/>
                </a:solidFill>
                <a:latin typeface="Inter"/>
                <a:ea typeface="Inter"/>
                <a:cs typeface="Inter"/>
                <a:sym typeface="Inter"/>
              </a:rPr>
              <a:t>p</a:t>
            </a:r>
            <a:r>
              <a:rPr lang="en-US" sz="2499" strike="noStrike" u="none">
                <a:solidFill>
                  <a:srgbClr val="000000"/>
                </a:solidFill>
                <a:latin typeface="Inter"/>
                <a:ea typeface="Inter"/>
                <a:cs typeface="Inter"/>
                <a:sym typeface="Inter"/>
              </a:rPr>
              <a:t>p</a:t>
            </a:r>
            <a:r>
              <a:rPr lang="en-US" sz="2499" strike="noStrike" u="none">
                <a:solidFill>
                  <a:srgbClr val="000000"/>
                </a:solidFill>
                <a:latin typeface="Inter"/>
                <a:ea typeface="Inter"/>
                <a:cs typeface="Inter"/>
                <a:sym typeface="Inter"/>
              </a:rPr>
              <a:t>ort</a:t>
            </a:r>
            <a:r>
              <a:rPr lang="en-US" sz="2499" strike="noStrike" u="none">
                <a:solidFill>
                  <a:srgbClr val="000000"/>
                </a:solidFill>
                <a:latin typeface="Inter"/>
                <a:ea typeface="Inter"/>
                <a:cs typeface="Inter"/>
                <a:sym typeface="Inter"/>
              </a:rPr>
              <a:t>i</a:t>
            </a:r>
            <a:r>
              <a:rPr lang="en-US" sz="2499" strike="noStrike" u="none">
                <a:solidFill>
                  <a:srgbClr val="000000"/>
                </a:solidFill>
                <a:latin typeface="Inter"/>
                <a:ea typeface="Inter"/>
                <a:cs typeface="Inter"/>
                <a:sym typeface="Inter"/>
              </a:rPr>
              <a:t>ng</a:t>
            </a:r>
            <a:r>
              <a:rPr lang="en-US" sz="2499" strike="noStrike" u="none">
                <a:solidFill>
                  <a:srgbClr val="000000"/>
                </a:solidFill>
                <a:latin typeface="Inter"/>
                <a:ea typeface="Inter"/>
                <a:cs typeface="Inter"/>
                <a:sym typeface="Inter"/>
              </a:rPr>
              <a:t> </a:t>
            </a:r>
            <a:r>
              <a:rPr lang="en-US" sz="2499" strike="noStrike" u="none">
                <a:solidFill>
                  <a:srgbClr val="000000"/>
                </a:solidFill>
                <a:latin typeface="Inter"/>
                <a:ea typeface="Inter"/>
                <a:cs typeface="Inter"/>
                <a:sym typeface="Inter"/>
              </a:rPr>
              <a:t>da</a:t>
            </a:r>
            <a:r>
              <a:rPr lang="en-US" sz="2499" strike="noStrike" u="none">
                <a:solidFill>
                  <a:srgbClr val="000000"/>
                </a:solidFill>
                <a:latin typeface="Inter"/>
                <a:ea typeface="Inter"/>
                <a:cs typeface="Inter"/>
                <a:sym typeface="Inter"/>
              </a:rPr>
              <a:t>t</a:t>
            </a:r>
            <a:r>
              <a:rPr lang="en-US" sz="2499" strike="noStrike" u="none">
                <a:solidFill>
                  <a:srgbClr val="000000"/>
                </a:solidFill>
                <a:latin typeface="Inter"/>
                <a:ea typeface="Inter"/>
                <a:cs typeface="Inter"/>
                <a:sym typeface="Inter"/>
              </a:rPr>
              <a:t>a-d</a:t>
            </a:r>
            <a:r>
              <a:rPr lang="en-US" sz="2499" strike="noStrike" u="none">
                <a:solidFill>
                  <a:srgbClr val="000000"/>
                </a:solidFill>
                <a:latin typeface="Inter"/>
                <a:ea typeface="Inter"/>
                <a:cs typeface="Inter"/>
                <a:sym typeface="Inter"/>
              </a:rPr>
              <a:t>ri</a:t>
            </a:r>
            <a:r>
              <a:rPr lang="en-US" sz="2499" strike="noStrike" u="none">
                <a:solidFill>
                  <a:srgbClr val="000000"/>
                </a:solidFill>
                <a:latin typeface="Inter"/>
                <a:ea typeface="Inter"/>
                <a:cs typeface="Inter"/>
                <a:sym typeface="Inter"/>
              </a:rPr>
              <a:t>ven</a:t>
            </a:r>
            <a:r>
              <a:rPr lang="en-US" sz="2499" strike="noStrike" u="none">
                <a:solidFill>
                  <a:srgbClr val="000000"/>
                </a:solidFill>
                <a:latin typeface="Inter"/>
                <a:ea typeface="Inter"/>
                <a:cs typeface="Inter"/>
                <a:sym typeface="Inter"/>
              </a:rPr>
              <a:t> </a:t>
            </a:r>
            <a:r>
              <a:rPr lang="en-US" sz="2499" strike="noStrike" u="none">
                <a:solidFill>
                  <a:srgbClr val="000000"/>
                </a:solidFill>
                <a:latin typeface="Inter"/>
                <a:ea typeface="Inter"/>
                <a:cs typeface="Inter"/>
                <a:sym typeface="Inter"/>
              </a:rPr>
              <a:t>bu</a:t>
            </a:r>
            <a:r>
              <a:rPr lang="en-US" sz="2499" strike="noStrike" u="none">
                <a:solidFill>
                  <a:srgbClr val="000000"/>
                </a:solidFill>
                <a:latin typeface="Inter"/>
                <a:ea typeface="Inter"/>
                <a:cs typeface="Inter"/>
                <a:sym typeface="Inter"/>
              </a:rPr>
              <a:t>si</a:t>
            </a:r>
            <a:r>
              <a:rPr lang="en-US" sz="2499" strike="noStrike" u="none">
                <a:solidFill>
                  <a:srgbClr val="000000"/>
                </a:solidFill>
                <a:latin typeface="Inter"/>
                <a:ea typeface="Inter"/>
                <a:cs typeface="Inter"/>
                <a:sym typeface="Inter"/>
              </a:rPr>
              <a:t>ne</a:t>
            </a:r>
            <a:r>
              <a:rPr lang="en-US" sz="2499" strike="noStrike" u="none">
                <a:solidFill>
                  <a:srgbClr val="000000"/>
                </a:solidFill>
                <a:latin typeface="Inter"/>
                <a:ea typeface="Inter"/>
                <a:cs typeface="Inter"/>
                <a:sym typeface="Inter"/>
              </a:rPr>
              <a:t>ss</a:t>
            </a:r>
            <a:r>
              <a:rPr lang="en-US" sz="2499" strike="noStrike" u="none">
                <a:solidFill>
                  <a:srgbClr val="000000"/>
                </a:solidFill>
                <a:latin typeface="Inter"/>
                <a:ea typeface="Inter"/>
                <a:cs typeface="Inter"/>
                <a:sym typeface="Inter"/>
              </a:rPr>
              <a:t> </a:t>
            </a:r>
            <a:r>
              <a:rPr lang="en-US" sz="2499" strike="noStrike" u="none">
                <a:solidFill>
                  <a:srgbClr val="000000"/>
                </a:solidFill>
                <a:latin typeface="Inter"/>
                <a:ea typeface="Inter"/>
                <a:cs typeface="Inter"/>
                <a:sym typeface="Inter"/>
              </a:rPr>
              <a:t>d</a:t>
            </a:r>
            <a:r>
              <a:rPr lang="en-US" sz="2499" strike="noStrike" u="none">
                <a:solidFill>
                  <a:srgbClr val="000000"/>
                </a:solidFill>
                <a:latin typeface="Inter"/>
                <a:ea typeface="Inter"/>
                <a:cs typeface="Inter"/>
                <a:sym typeface="Inter"/>
              </a:rPr>
              <a:t>ecisions</a:t>
            </a:r>
            <a:r>
              <a:rPr lang="en-US" sz="2499" strike="noStrike" u="none">
                <a:solidFill>
                  <a:srgbClr val="000000"/>
                </a:solidFill>
                <a:latin typeface="Inter"/>
                <a:ea typeface="Inter"/>
                <a:cs typeface="Inter"/>
                <a:sym typeface="Inter"/>
              </a:rPr>
              <a:t>. This analysis aims to identify which product categories contribute the most to total sales and profit, evaluate their overall performance, and provide insights that can support strategic planning and resource allocation.</a:t>
            </a:r>
          </a:p>
          <a:p>
            <a:pPr algn="l" marL="0" indent="0" lvl="0">
              <a:lnSpc>
                <a:spcPts val="3499"/>
              </a:lnSpc>
              <a:spcBef>
                <a:spcPct val="0"/>
              </a:spcBef>
            </a:pPr>
          </a:p>
        </p:txBody>
      </p:sp>
      <p:sp>
        <p:nvSpPr>
          <p:cNvPr name="TextBox 10" id="10"/>
          <p:cNvSpPr txBox="true"/>
          <p:nvPr/>
        </p:nvSpPr>
        <p:spPr>
          <a:xfrm rot="0">
            <a:off x="1678274" y="6329680"/>
            <a:ext cx="6506358" cy="2822575"/>
          </a:xfrm>
          <a:prstGeom prst="rect">
            <a:avLst/>
          </a:prstGeom>
        </p:spPr>
        <p:txBody>
          <a:bodyPr anchor="t" rtlCol="false" tIns="0" lIns="0" bIns="0" rIns="0">
            <a:spAutoFit/>
          </a:bodyPr>
          <a:lstStyle/>
          <a:p>
            <a:pPr algn="l" marL="539748" indent="-269874" lvl="1">
              <a:lnSpc>
                <a:spcPts val="3799"/>
              </a:lnSpc>
              <a:buFont typeface="Arial"/>
              <a:buChar char="•"/>
            </a:pPr>
            <a:r>
              <a:rPr lang="en-US" sz="2499">
                <a:solidFill>
                  <a:srgbClr val="000000"/>
                </a:solidFill>
                <a:latin typeface="Inter"/>
                <a:ea typeface="Inter"/>
                <a:cs typeface="Inter"/>
                <a:sym typeface="Inter"/>
              </a:rPr>
              <a:t>To analyze to</a:t>
            </a:r>
            <a:r>
              <a:rPr lang="en-US" sz="2499" strike="noStrike" u="none">
                <a:solidFill>
                  <a:srgbClr val="000000"/>
                </a:solidFill>
                <a:latin typeface="Inter"/>
                <a:ea typeface="Inter"/>
                <a:cs typeface="Inter"/>
                <a:sym typeface="Inter"/>
              </a:rPr>
              <a:t>ta</a:t>
            </a:r>
            <a:r>
              <a:rPr lang="en-US" sz="2499" strike="noStrike" u="none">
                <a:solidFill>
                  <a:srgbClr val="000000"/>
                </a:solidFill>
                <a:latin typeface="Inter"/>
                <a:ea typeface="Inter"/>
                <a:cs typeface="Inter"/>
                <a:sym typeface="Inter"/>
              </a:rPr>
              <a:t>l</a:t>
            </a:r>
            <a:r>
              <a:rPr lang="en-US" sz="2499" strike="noStrike" u="none">
                <a:solidFill>
                  <a:srgbClr val="000000"/>
                </a:solidFill>
                <a:latin typeface="Inter"/>
                <a:ea typeface="Inter"/>
                <a:cs typeface="Inter"/>
                <a:sym typeface="Inter"/>
              </a:rPr>
              <a:t> sales by product categor</a:t>
            </a:r>
            <a:r>
              <a:rPr lang="en-US" sz="2499" strike="noStrike" u="none">
                <a:solidFill>
                  <a:srgbClr val="000000"/>
                </a:solidFill>
                <a:latin typeface="Inter"/>
                <a:ea typeface="Inter"/>
                <a:cs typeface="Inter"/>
                <a:sym typeface="Inter"/>
              </a:rPr>
              <a:t>y</a:t>
            </a:r>
          </a:p>
          <a:p>
            <a:pPr algn="l" marL="539748" indent="-269874" lvl="1">
              <a:lnSpc>
                <a:spcPts val="3799"/>
              </a:lnSpc>
              <a:buFont typeface="Arial"/>
              <a:buChar char="•"/>
            </a:pPr>
            <a:r>
              <a:rPr lang="en-US" sz="2499" strike="noStrike" u="none">
                <a:solidFill>
                  <a:srgbClr val="000000"/>
                </a:solidFill>
                <a:latin typeface="Inter"/>
                <a:ea typeface="Inter"/>
                <a:cs typeface="Inter"/>
                <a:sym typeface="Inter"/>
              </a:rPr>
              <a:t>To </a:t>
            </a:r>
            <a:r>
              <a:rPr lang="en-US" sz="2499" strike="noStrike" u="none">
                <a:solidFill>
                  <a:srgbClr val="000000"/>
                </a:solidFill>
                <a:latin typeface="Inter"/>
                <a:ea typeface="Inter"/>
                <a:cs typeface="Inter"/>
                <a:sym typeface="Inter"/>
              </a:rPr>
              <a:t>analyze total pro</a:t>
            </a:r>
            <a:r>
              <a:rPr lang="en-US" sz="2499" strike="noStrike" u="none">
                <a:solidFill>
                  <a:srgbClr val="000000"/>
                </a:solidFill>
                <a:latin typeface="Inter"/>
                <a:ea typeface="Inter"/>
                <a:cs typeface="Inter"/>
                <a:sym typeface="Inter"/>
              </a:rPr>
              <a:t>fit by</a:t>
            </a:r>
            <a:r>
              <a:rPr lang="en-US" sz="2499" strike="noStrike" u="none">
                <a:solidFill>
                  <a:srgbClr val="000000"/>
                </a:solidFill>
                <a:latin typeface="Inter"/>
                <a:ea typeface="Inter"/>
                <a:cs typeface="Inter"/>
                <a:sym typeface="Inter"/>
              </a:rPr>
              <a:t> product category</a:t>
            </a:r>
          </a:p>
          <a:p>
            <a:pPr algn="l" marL="539748" indent="-269874" lvl="1">
              <a:lnSpc>
                <a:spcPts val="3799"/>
              </a:lnSpc>
              <a:buFont typeface="Arial"/>
              <a:buChar char="•"/>
            </a:pPr>
            <a:r>
              <a:rPr lang="en-US" sz="2499" strike="noStrike" u="none">
                <a:solidFill>
                  <a:srgbClr val="000000"/>
                </a:solidFill>
                <a:latin typeface="Inter"/>
                <a:ea typeface="Inter"/>
                <a:cs typeface="Inter"/>
                <a:sym typeface="Inter"/>
              </a:rPr>
              <a:t>To compare s</a:t>
            </a:r>
            <a:r>
              <a:rPr lang="en-US" sz="2499" strike="noStrike" u="none">
                <a:solidFill>
                  <a:srgbClr val="000000"/>
                </a:solidFill>
                <a:latin typeface="Inter"/>
                <a:ea typeface="Inter"/>
                <a:cs typeface="Inter"/>
                <a:sym typeface="Inter"/>
              </a:rPr>
              <a:t>al</a:t>
            </a:r>
            <a:r>
              <a:rPr lang="en-US" sz="2499" strike="noStrike" u="none">
                <a:solidFill>
                  <a:srgbClr val="000000"/>
                </a:solidFill>
                <a:latin typeface="Inter"/>
                <a:ea typeface="Inter"/>
                <a:cs typeface="Inter"/>
                <a:sym typeface="Inter"/>
              </a:rPr>
              <a:t>es</a:t>
            </a:r>
            <a:r>
              <a:rPr lang="en-US" sz="2499" strike="noStrike" u="none">
                <a:solidFill>
                  <a:srgbClr val="000000"/>
                </a:solidFill>
                <a:latin typeface="Inter"/>
                <a:ea typeface="Inter"/>
                <a:cs typeface="Inter"/>
                <a:sym typeface="Inter"/>
              </a:rPr>
              <a:t> a</a:t>
            </a:r>
            <a:r>
              <a:rPr lang="en-US" sz="2499" strike="noStrike" u="none">
                <a:solidFill>
                  <a:srgbClr val="000000"/>
                </a:solidFill>
                <a:latin typeface="Inter"/>
                <a:ea typeface="Inter"/>
                <a:cs typeface="Inter"/>
                <a:sym typeface="Inter"/>
              </a:rPr>
              <a:t>nd prof</a:t>
            </a:r>
            <a:r>
              <a:rPr lang="en-US" sz="2499" strike="noStrike" u="none">
                <a:solidFill>
                  <a:srgbClr val="000000"/>
                </a:solidFill>
                <a:latin typeface="Inter"/>
                <a:ea typeface="Inter"/>
                <a:cs typeface="Inter"/>
                <a:sym typeface="Inter"/>
              </a:rPr>
              <a:t>it</a:t>
            </a:r>
            <a:r>
              <a:rPr lang="en-US" sz="2499" strike="noStrike" u="none">
                <a:solidFill>
                  <a:srgbClr val="000000"/>
                </a:solidFill>
                <a:latin typeface="Inter"/>
                <a:ea typeface="Inter"/>
                <a:cs typeface="Inter"/>
                <a:sym typeface="Inter"/>
              </a:rPr>
              <a:t> p</a:t>
            </a:r>
            <a:r>
              <a:rPr lang="en-US" sz="2499" strike="noStrike" u="none">
                <a:solidFill>
                  <a:srgbClr val="000000"/>
                </a:solidFill>
                <a:latin typeface="Inter"/>
                <a:ea typeface="Inter"/>
                <a:cs typeface="Inter"/>
                <a:sym typeface="Inter"/>
              </a:rPr>
              <a:t>erf</a:t>
            </a:r>
            <a:r>
              <a:rPr lang="en-US" sz="2499" strike="noStrike" u="none">
                <a:solidFill>
                  <a:srgbClr val="000000"/>
                </a:solidFill>
                <a:latin typeface="Inter"/>
                <a:ea typeface="Inter"/>
                <a:cs typeface="Inter"/>
                <a:sym typeface="Inter"/>
              </a:rPr>
              <a:t>or</a:t>
            </a:r>
            <a:r>
              <a:rPr lang="en-US" sz="2499" strike="noStrike" u="none">
                <a:solidFill>
                  <a:srgbClr val="000000"/>
                </a:solidFill>
                <a:latin typeface="Inter"/>
                <a:ea typeface="Inter"/>
                <a:cs typeface="Inter"/>
                <a:sym typeface="Inter"/>
              </a:rPr>
              <a:t>ma</a:t>
            </a:r>
            <a:r>
              <a:rPr lang="en-US" sz="2499" strike="noStrike" u="none">
                <a:solidFill>
                  <a:srgbClr val="000000"/>
                </a:solidFill>
                <a:latin typeface="Inter"/>
                <a:ea typeface="Inter"/>
                <a:cs typeface="Inter"/>
                <a:sym typeface="Inter"/>
              </a:rPr>
              <a:t>n</a:t>
            </a:r>
            <a:r>
              <a:rPr lang="en-US" sz="2499" strike="noStrike" u="none">
                <a:solidFill>
                  <a:srgbClr val="000000"/>
                </a:solidFill>
                <a:latin typeface="Inter"/>
                <a:ea typeface="Inter"/>
                <a:cs typeface="Inter"/>
                <a:sym typeface="Inter"/>
              </a:rPr>
              <a:t>ce</a:t>
            </a:r>
            <a:r>
              <a:rPr lang="en-US" sz="2499" strike="noStrike" u="none">
                <a:solidFill>
                  <a:srgbClr val="000000"/>
                </a:solidFill>
                <a:latin typeface="Inter"/>
                <a:ea typeface="Inter"/>
                <a:cs typeface="Inter"/>
                <a:sym typeface="Inter"/>
              </a:rPr>
              <a:t> a</a:t>
            </a:r>
            <a:r>
              <a:rPr lang="en-US" sz="2499" strike="noStrike" u="none">
                <a:solidFill>
                  <a:srgbClr val="000000"/>
                </a:solidFill>
                <a:latin typeface="Inter"/>
                <a:ea typeface="Inter"/>
                <a:cs typeface="Inter"/>
                <a:sym typeface="Inter"/>
              </a:rPr>
              <a:t>c</a:t>
            </a:r>
            <a:r>
              <a:rPr lang="en-US" sz="2499" strike="noStrike" u="none">
                <a:solidFill>
                  <a:srgbClr val="000000"/>
                </a:solidFill>
                <a:latin typeface="Inter"/>
                <a:ea typeface="Inter"/>
                <a:cs typeface="Inter"/>
                <a:sym typeface="Inter"/>
              </a:rPr>
              <a:t>ross </a:t>
            </a:r>
            <a:r>
              <a:rPr lang="en-US" sz="2499" strike="noStrike" u="none">
                <a:solidFill>
                  <a:srgbClr val="000000"/>
                </a:solidFill>
                <a:latin typeface="Inter"/>
                <a:ea typeface="Inter"/>
                <a:cs typeface="Inter"/>
                <a:sym typeface="Inter"/>
              </a:rPr>
              <a:t>cat</a:t>
            </a:r>
            <a:r>
              <a:rPr lang="en-US" sz="2499" strike="noStrike" u="none">
                <a:solidFill>
                  <a:srgbClr val="000000"/>
                </a:solidFill>
                <a:latin typeface="Inter"/>
                <a:ea typeface="Inter"/>
                <a:cs typeface="Inter"/>
                <a:sym typeface="Inter"/>
              </a:rPr>
              <a:t>e</a:t>
            </a:r>
            <a:r>
              <a:rPr lang="en-US" sz="2499" strike="noStrike" u="none">
                <a:solidFill>
                  <a:srgbClr val="000000"/>
                </a:solidFill>
                <a:latin typeface="Inter"/>
                <a:ea typeface="Inter"/>
                <a:cs typeface="Inter"/>
                <a:sym typeface="Inter"/>
              </a:rPr>
              <a:t>gor</a:t>
            </a:r>
            <a:r>
              <a:rPr lang="en-US" sz="2499" strike="noStrike" u="none">
                <a:solidFill>
                  <a:srgbClr val="000000"/>
                </a:solidFill>
                <a:latin typeface="Inter"/>
                <a:ea typeface="Inter"/>
                <a:cs typeface="Inter"/>
                <a:sym typeface="Inter"/>
              </a:rPr>
              <a:t>i</a:t>
            </a:r>
            <a:r>
              <a:rPr lang="en-US" sz="2499" strike="noStrike" u="none">
                <a:solidFill>
                  <a:srgbClr val="000000"/>
                </a:solidFill>
                <a:latin typeface="Inter"/>
                <a:ea typeface="Inter"/>
                <a:cs typeface="Inter"/>
                <a:sym typeface="Inter"/>
              </a:rPr>
              <a:t>e</a:t>
            </a:r>
            <a:r>
              <a:rPr lang="en-US" sz="2499" strike="noStrike" u="none">
                <a:solidFill>
                  <a:srgbClr val="000000"/>
                </a:solidFill>
                <a:latin typeface="Inter"/>
                <a:ea typeface="Inter"/>
                <a:cs typeface="Inter"/>
                <a:sym typeface="Inter"/>
              </a:rPr>
              <a:t>s</a:t>
            </a:r>
          </a:p>
        </p:txBody>
      </p:sp>
      <p:sp>
        <p:nvSpPr>
          <p:cNvPr name="TextBox 11" id="11"/>
          <p:cNvSpPr txBox="true"/>
          <p:nvPr/>
        </p:nvSpPr>
        <p:spPr>
          <a:xfrm rot="0">
            <a:off x="1678274" y="2807335"/>
            <a:ext cx="12397945" cy="537845"/>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Inter"/>
                <a:ea typeface="Inter"/>
                <a:cs typeface="Inter"/>
                <a:sym typeface="Inter"/>
              </a:rPr>
              <a:t>Probem Statement:</a:t>
            </a:r>
          </a:p>
        </p:txBody>
      </p:sp>
      <p:sp>
        <p:nvSpPr>
          <p:cNvPr name="TextBox 12" id="12"/>
          <p:cNvSpPr txBox="true"/>
          <p:nvPr/>
        </p:nvSpPr>
        <p:spPr>
          <a:xfrm rot="0">
            <a:off x="1678274" y="5609107"/>
            <a:ext cx="12397945" cy="537845"/>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Inter"/>
                <a:ea typeface="Inter"/>
                <a:cs typeface="Inter"/>
                <a:sym typeface="Inter"/>
              </a:rPr>
              <a:t>Object:</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8737293" y="1322339"/>
            <a:ext cx="7408945" cy="7642322"/>
            <a:chOff x="0" y="0"/>
            <a:chExt cx="1951327" cy="2012793"/>
          </a:xfrm>
        </p:grpSpPr>
        <p:sp>
          <p:nvSpPr>
            <p:cNvPr name="Freeform 3" id="3"/>
            <p:cNvSpPr/>
            <p:nvPr/>
          </p:nvSpPr>
          <p:spPr>
            <a:xfrm flipH="false" flipV="false" rot="0">
              <a:off x="0" y="0"/>
              <a:ext cx="1951327" cy="2012793"/>
            </a:xfrm>
            <a:custGeom>
              <a:avLst/>
              <a:gdLst/>
              <a:ahLst/>
              <a:cxnLst/>
              <a:rect r="r" b="b" t="t" l="l"/>
              <a:pathLst>
                <a:path h="2012793" w="1951327">
                  <a:moveTo>
                    <a:pt x="0" y="0"/>
                  </a:moveTo>
                  <a:lnTo>
                    <a:pt x="1951327" y="0"/>
                  </a:lnTo>
                  <a:lnTo>
                    <a:pt x="1951327" y="2012793"/>
                  </a:lnTo>
                  <a:lnTo>
                    <a:pt x="0" y="2012793"/>
                  </a:lnTo>
                  <a:close/>
                </a:path>
              </a:pathLst>
            </a:custGeom>
            <a:solidFill>
              <a:srgbClr val="FFDE59"/>
            </a:solidFill>
          </p:spPr>
        </p:sp>
        <p:sp>
          <p:nvSpPr>
            <p:cNvPr name="TextBox 4" id="4"/>
            <p:cNvSpPr txBox="true"/>
            <p:nvPr/>
          </p:nvSpPr>
          <p:spPr>
            <a:xfrm>
              <a:off x="0" y="-38100"/>
              <a:ext cx="1951327" cy="2050893"/>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2436573" y="-3314429"/>
            <a:ext cx="3086100" cy="6112748"/>
            <a:chOff x="0" y="0"/>
            <a:chExt cx="812800" cy="1609942"/>
          </a:xfrm>
        </p:grpSpPr>
        <p:sp>
          <p:nvSpPr>
            <p:cNvPr name="Freeform 6" id="6"/>
            <p:cNvSpPr/>
            <p:nvPr/>
          </p:nvSpPr>
          <p:spPr>
            <a:xfrm flipH="false" flipV="false" rot="0">
              <a:off x="0" y="0"/>
              <a:ext cx="812800" cy="1609942"/>
            </a:xfrm>
            <a:custGeom>
              <a:avLst/>
              <a:gdLst/>
              <a:ahLst/>
              <a:cxnLst/>
              <a:rect r="r" b="b" t="t" l="l"/>
              <a:pathLst>
                <a:path h="1609942" w="812800">
                  <a:moveTo>
                    <a:pt x="0" y="0"/>
                  </a:moveTo>
                  <a:lnTo>
                    <a:pt x="812800" y="0"/>
                  </a:lnTo>
                  <a:lnTo>
                    <a:pt x="812800" y="1609942"/>
                  </a:lnTo>
                  <a:lnTo>
                    <a:pt x="0" y="1609942"/>
                  </a:lnTo>
                  <a:close/>
                </a:path>
              </a:pathLst>
            </a:custGeom>
            <a:solidFill>
              <a:srgbClr val="000000"/>
            </a:solidFill>
          </p:spPr>
        </p:sp>
        <p:sp>
          <p:nvSpPr>
            <p:cNvPr name="TextBox 7" id="7"/>
            <p:cNvSpPr txBox="true"/>
            <p:nvPr/>
          </p:nvSpPr>
          <p:spPr>
            <a:xfrm>
              <a:off x="0" y="-38100"/>
              <a:ext cx="812800" cy="1648042"/>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15716250" y="9680223"/>
            <a:ext cx="3086100" cy="6112748"/>
            <a:chOff x="0" y="0"/>
            <a:chExt cx="812800" cy="1609942"/>
          </a:xfrm>
        </p:grpSpPr>
        <p:sp>
          <p:nvSpPr>
            <p:cNvPr name="Freeform 9" id="9"/>
            <p:cNvSpPr/>
            <p:nvPr/>
          </p:nvSpPr>
          <p:spPr>
            <a:xfrm flipH="false" flipV="false" rot="0">
              <a:off x="0" y="0"/>
              <a:ext cx="812800" cy="1609942"/>
            </a:xfrm>
            <a:custGeom>
              <a:avLst/>
              <a:gdLst/>
              <a:ahLst/>
              <a:cxnLst/>
              <a:rect r="r" b="b" t="t" l="l"/>
              <a:pathLst>
                <a:path h="1609942" w="812800">
                  <a:moveTo>
                    <a:pt x="0" y="0"/>
                  </a:moveTo>
                  <a:lnTo>
                    <a:pt x="812800" y="0"/>
                  </a:lnTo>
                  <a:lnTo>
                    <a:pt x="812800" y="1609942"/>
                  </a:lnTo>
                  <a:lnTo>
                    <a:pt x="0" y="1609942"/>
                  </a:lnTo>
                  <a:close/>
                </a:path>
              </a:pathLst>
            </a:custGeom>
            <a:solidFill>
              <a:srgbClr val="FFDE59"/>
            </a:solidFill>
          </p:spPr>
        </p:sp>
        <p:sp>
          <p:nvSpPr>
            <p:cNvPr name="TextBox 10" id="10"/>
            <p:cNvSpPr txBox="true"/>
            <p:nvPr/>
          </p:nvSpPr>
          <p:spPr>
            <a:xfrm>
              <a:off x="0" y="-38100"/>
              <a:ext cx="812800" cy="1648042"/>
            </a:xfrm>
            <a:prstGeom prst="rect">
              <a:avLst/>
            </a:prstGeom>
          </p:spPr>
          <p:txBody>
            <a:bodyPr anchor="ctr" rtlCol="false" tIns="50800" lIns="50800" bIns="50800" rIns="50800"/>
            <a:lstStyle/>
            <a:p>
              <a:pPr algn="ctr">
                <a:lnSpc>
                  <a:spcPts val="2940"/>
                </a:lnSpc>
              </a:pPr>
            </a:p>
          </p:txBody>
        </p:sp>
      </p:grpSp>
      <p:sp>
        <p:nvSpPr>
          <p:cNvPr name="TextBox 11" id="11"/>
          <p:cNvSpPr txBox="true"/>
          <p:nvPr/>
        </p:nvSpPr>
        <p:spPr>
          <a:xfrm rot="0">
            <a:off x="1394170" y="3765450"/>
            <a:ext cx="5401040" cy="2506980"/>
          </a:xfrm>
          <a:prstGeom prst="rect">
            <a:avLst/>
          </a:prstGeom>
        </p:spPr>
        <p:txBody>
          <a:bodyPr anchor="t" rtlCol="false" tIns="0" lIns="0" bIns="0" rIns="0">
            <a:spAutoFit/>
          </a:bodyPr>
          <a:lstStyle/>
          <a:p>
            <a:pPr algn="l">
              <a:lnSpc>
                <a:spcPts val="9810"/>
              </a:lnSpc>
            </a:pPr>
            <a:r>
              <a:rPr lang="en-US" sz="9000" b="true">
                <a:solidFill>
                  <a:srgbClr val="000000"/>
                </a:solidFill>
                <a:latin typeface="Inter Bold"/>
                <a:ea typeface="Inter Bold"/>
                <a:cs typeface="Inter Bold"/>
                <a:sym typeface="Inter Bold"/>
              </a:rPr>
              <a:t>Dataset Overview</a:t>
            </a:r>
          </a:p>
        </p:txBody>
      </p:sp>
      <p:sp>
        <p:nvSpPr>
          <p:cNvPr name="TextBox 12" id="12"/>
          <p:cNvSpPr txBox="true"/>
          <p:nvPr/>
        </p:nvSpPr>
        <p:spPr>
          <a:xfrm rot="0">
            <a:off x="9273515" y="2147466"/>
            <a:ext cx="6336500" cy="5906344"/>
          </a:xfrm>
          <a:prstGeom prst="rect">
            <a:avLst/>
          </a:prstGeom>
        </p:spPr>
        <p:txBody>
          <a:bodyPr anchor="t" rtlCol="false" tIns="0" lIns="0" bIns="0" rIns="0">
            <a:spAutoFit/>
          </a:bodyPr>
          <a:lstStyle/>
          <a:p>
            <a:pPr algn="l">
              <a:lnSpc>
                <a:spcPts val="5203"/>
              </a:lnSpc>
            </a:pPr>
            <a:r>
              <a:rPr lang="en-US" sz="3716">
                <a:solidFill>
                  <a:srgbClr val="000000"/>
                </a:solidFill>
                <a:latin typeface="Inter"/>
                <a:ea typeface="Inter"/>
                <a:cs typeface="Inter"/>
                <a:sym typeface="Inter"/>
              </a:rPr>
              <a:t>Dataset: Sample Superstore</a:t>
            </a:r>
          </a:p>
          <a:p>
            <a:pPr algn="l">
              <a:lnSpc>
                <a:spcPts val="5203"/>
              </a:lnSpc>
            </a:pPr>
            <a:r>
              <a:rPr lang="en-US" sz="3716">
                <a:solidFill>
                  <a:srgbClr val="000000"/>
                </a:solidFill>
                <a:latin typeface="Inter"/>
                <a:ea typeface="Inter"/>
                <a:cs typeface="Inter"/>
                <a:sym typeface="Inter"/>
              </a:rPr>
              <a:t>To</a:t>
            </a:r>
            <a:r>
              <a:rPr lang="en-US" sz="3716">
                <a:solidFill>
                  <a:srgbClr val="000000"/>
                </a:solidFill>
                <a:latin typeface="Inter"/>
                <a:ea typeface="Inter"/>
                <a:cs typeface="Inter"/>
                <a:sym typeface="Inter"/>
              </a:rPr>
              <a:t>tal records: ±9,994 rows</a:t>
            </a:r>
          </a:p>
          <a:p>
            <a:pPr algn="l">
              <a:lnSpc>
                <a:spcPts val="5203"/>
              </a:lnSpc>
            </a:pPr>
            <a:r>
              <a:rPr lang="en-US" sz="3716">
                <a:solidFill>
                  <a:srgbClr val="000000"/>
                </a:solidFill>
                <a:latin typeface="Inter"/>
                <a:ea typeface="Inter"/>
                <a:cs typeface="Inter"/>
                <a:sym typeface="Inter"/>
              </a:rPr>
              <a:t>Key variables:</a:t>
            </a:r>
          </a:p>
          <a:p>
            <a:pPr algn="l" marL="802452" indent="-401226" lvl="1">
              <a:lnSpc>
                <a:spcPts val="5203"/>
              </a:lnSpc>
              <a:buFont typeface="Arial"/>
              <a:buChar char="•"/>
            </a:pPr>
            <a:r>
              <a:rPr lang="en-US" sz="3716">
                <a:solidFill>
                  <a:srgbClr val="000000"/>
                </a:solidFill>
                <a:latin typeface="Inter"/>
                <a:ea typeface="Inter"/>
                <a:cs typeface="Inter"/>
                <a:sym typeface="Inter"/>
              </a:rPr>
              <a:t>Category</a:t>
            </a:r>
          </a:p>
          <a:p>
            <a:pPr algn="l" marL="802452" indent="-401226" lvl="1">
              <a:lnSpc>
                <a:spcPts val="5203"/>
              </a:lnSpc>
              <a:buFont typeface="Arial"/>
              <a:buChar char="•"/>
            </a:pPr>
            <a:r>
              <a:rPr lang="en-US" sz="3716">
                <a:solidFill>
                  <a:srgbClr val="000000"/>
                </a:solidFill>
                <a:latin typeface="Inter"/>
                <a:ea typeface="Inter"/>
                <a:cs typeface="Inter"/>
                <a:sym typeface="Inter"/>
              </a:rPr>
              <a:t>Sales</a:t>
            </a:r>
          </a:p>
          <a:p>
            <a:pPr algn="l" marL="802452" indent="-401226" lvl="1">
              <a:lnSpc>
                <a:spcPts val="5203"/>
              </a:lnSpc>
              <a:buFont typeface="Arial"/>
              <a:buChar char="•"/>
            </a:pPr>
            <a:r>
              <a:rPr lang="en-US" sz="3716">
                <a:solidFill>
                  <a:srgbClr val="000000"/>
                </a:solidFill>
                <a:latin typeface="Inter"/>
                <a:ea typeface="Inter"/>
                <a:cs typeface="Inter"/>
                <a:sym typeface="Inter"/>
              </a:rPr>
              <a:t>Profit</a:t>
            </a:r>
          </a:p>
          <a:p>
            <a:pPr algn="l" marL="802452" indent="-401226" lvl="1">
              <a:lnSpc>
                <a:spcPts val="5203"/>
              </a:lnSpc>
              <a:buFont typeface="Arial"/>
              <a:buChar char="•"/>
            </a:pPr>
            <a:r>
              <a:rPr lang="en-US" sz="3716">
                <a:solidFill>
                  <a:srgbClr val="000000"/>
                </a:solidFill>
                <a:latin typeface="Inter"/>
                <a:ea typeface="Inter"/>
                <a:cs typeface="Inter"/>
                <a:sym typeface="Inter"/>
              </a:rPr>
              <a:t>Quantity</a:t>
            </a:r>
          </a:p>
          <a:p>
            <a:pPr algn="l" marL="802452" indent="-401226" lvl="1">
              <a:lnSpc>
                <a:spcPts val="5203"/>
              </a:lnSpc>
              <a:buFont typeface="Arial"/>
              <a:buChar char="•"/>
            </a:pPr>
            <a:r>
              <a:rPr lang="en-US" sz="3716">
                <a:solidFill>
                  <a:srgbClr val="000000"/>
                </a:solidFill>
                <a:latin typeface="Inter"/>
                <a:ea typeface="Inter"/>
                <a:cs typeface="Inter"/>
                <a:sym typeface="Inter"/>
              </a:rPr>
              <a:t>Discount</a:t>
            </a:r>
          </a:p>
          <a:p>
            <a:pPr algn="l">
              <a:lnSpc>
                <a:spcPts val="5203"/>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51005" y="1102940"/>
            <a:ext cx="9741360" cy="953135"/>
          </a:xfrm>
          <a:prstGeom prst="rect">
            <a:avLst/>
          </a:prstGeom>
        </p:spPr>
        <p:txBody>
          <a:bodyPr anchor="t" rtlCol="false" tIns="0" lIns="0" bIns="0" rIns="0">
            <a:spAutoFit/>
          </a:bodyPr>
          <a:lstStyle/>
          <a:p>
            <a:pPr algn="l">
              <a:lnSpc>
                <a:spcPts val="7840"/>
              </a:lnSpc>
              <a:spcBef>
                <a:spcPct val="0"/>
              </a:spcBef>
            </a:pPr>
            <a:r>
              <a:rPr lang="en-US" sz="5600" b="true">
                <a:solidFill>
                  <a:srgbClr val="000000"/>
                </a:solidFill>
                <a:latin typeface="Inter Bold"/>
                <a:ea typeface="Inter Bold"/>
                <a:cs typeface="Inter Bold"/>
                <a:sym typeface="Inter Bold"/>
              </a:rPr>
              <a:t>Data Preparation &amp; Cleaning</a:t>
            </a:r>
          </a:p>
        </p:txBody>
      </p:sp>
      <p:sp>
        <p:nvSpPr>
          <p:cNvPr name="TextBox 3" id="3"/>
          <p:cNvSpPr txBox="true"/>
          <p:nvPr/>
        </p:nvSpPr>
        <p:spPr>
          <a:xfrm rot="0">
            <a:off x="1525817" y="2605848"/>
            <a:ext cx="1629416" cy="1384767"/>
          </a:xfrm>
          <a:prstGeom prst="rect">
            <a:avLst/>
          </a:prstGeom>
        </p:spPr>
        <p:txBody>
          <a:bodyPr anchor="t" rtlCol="false" tIns="0" lIns="0" bIns="0" rIns="0">
            <a:spAutoFit/>
          </a:bodyPr>
          <a:lstStyle/>
          <a:p>
            <a:pPr algn="ctr">
              <a:lnSpc>
                <a:spcPts val="11320"/>
              </a:lnSpc>
              <a:spcBef>
                <a:spcPct val="0"/>
              </a:spcBef>
            </a:pPr>
            <a:r>
              <a:rPr lang="en-US" b="true" sz="8086">
                <a:solidFill>
                  <a:srgbClr val="FFDE59"/>
                </a:solidFill>
                <a:latin typeface="Inter Bold"/>
                <a:ea typeface="Inter Bold"/>
                <a:cs typeface="Inter Bold"/>
                <a:sym typeface="Inter Bold"/>
              </a:rPr>
              <a:t>01</a:t>
            </a:r>
          </a:p>
        </p:txBody>
      </p:sp>
      <p:sp>
        <p:nvSpPr>
          <p:cNvPr name="TextBox 4" id="4"/>
          <p:cNvSpPr txBox="true"/>
          <p:nvPr/>
        </p:nvSpPr>
        <p:spPr>
          <a:xfrm rot="0">
            <a:off x="1525817" y="4884059"/>
            <a:ext cx="1654604" cy="1403817"/>
          </a:xfrm>
          <a:prstGeom prst="rect">
            <a:avLst/>
          </a:prstGeom>
        </p:spPr>
        <p:txBody>
          <a:bodyPr anchor="t" rtlCol="false" tIns="0" lIns="0" bIns="0" rIns="0">
            <a:spAutoFit/>
          </a:bodyPr>
          <a:lstStyle/>
          <a:p>
            <a:pPr algn="ctr">
              <a:lnSpc>
                <a:spcPts val="11495"/>
              </a:lnSpc>
              <a:spcBef>
                <a:spcPct val="0"/>
              </a:spcBef>
            </a:pPr>
            <a:r>
              <a:rPr lang="en-US" b="true" sz="8211">
                <a:solidFill>
                  <a:srgbClr val="FFDE59"/>
                </a:solidFill>
                <a:latin typeface="Inter Bold"/>
                <a:ea typeface="Inter Bold"/>
                <a:cs typeface="Inter Bold"/>
                <a:sym typeface="Inter Bold"/>
              </a:rPr>
              <a:t>02</a:t>
            </a:r>
          </a:p>
        </p:txBody>
      </p:sp>
      <p:sp>
        <p:nvSpPr>
          <p:cNvPr name="TextBox 5" id="5"/>
          <p:cNvSpPr txBox="true"/>
          <p:nvPr/>
        </p:nvSpPr>
        <p:spPr>
          <a:xfrm rot="0">
            <a:off x="3582446" y="3288940"/>
            <a:ext cx="11626191" cy="701675"/>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474747"/>
                </a:solidFill>
                <a:latin typeface="Canva Sans"/>
                <a:ea typeface="Canva Sans"/>
                <a:cs typeface="Canva Sans"/>
                <a:sym typeface="Canva Sans"/>
              </a:rPr>
              <a:t>Each c</a:t>
            </a:r>
            <a:r>
              <a:rPr lang="en-US" sz="2000" strike="noStrike" u="none">
                <a:solidFill>
                  <a:srgbClr val="474747"/>
                </a:solidFill>
                <a:latin typeface="Canva Sans"/>
                <a:ea typeface="Canva Sans"/>
                <a:cs typeface="Canva Sans"/>
                <a:sym typeface="Canva Sans"/>
              </a:rPr>
              <a:t>o</a:t>
            </a:r>
            <a:r>
              <a:rPr lang="en-US" sz="2000" strike="noStrike" u="none">
                <a:solidFill>
                  <a:srgbClr val="474747"/>
                </a:solidFill>
                <a:latin typeface="Canva Sans"/>
                <a:ea typeface="Canva Sans"/>
                <a:cs typeface="Canva Sans"/>
                <a:sym typeface="Canva Sans"/>
              </a:rPr>
              <a:t>lu</a:t>
            </a:r>
            <a:r>
              <a:rPr lang="en-US" sz="2000" strike="noStrike" u="none">
                <a:solidFill>
                  <a:srgbClr val="474747"/>
                </a:solidFill>
                <a:latin typeface="Canva Sans"/>
                <a:ea typeface="Canva Sans"/>
                <a:cs typeface="Canva Sans"/>
                <a:sym typeface="Canva Sans"/>
              </a:rPr>
              <a:t>m</a:t>
            </a:r>
            <a:r>
              <a:rPr lang="en-US" sz="2000" strike="noStrike" u="none">
                <a:solidFill>
                  <a:srgbClr val="474747"/>
                </a:solidFill>
                <a:latin typeface="Canva Sans"/>
                <a:ea typeface="Canva Sans"/>
                <a:cs typeface="Canva Sans"/>
                <a:sym typeface="Canva Sans"/>
              </a:rPr>
              <a:t>n</a:t>
            </a:r>
            <a:r>
              <a:rPr lang="en-US" sz="2000" strike="noStrike" u="none">
                <a:solidFill>
                  <a:srgbClr val="474747"/>
                </a:solidFill>
                <a:latin typeface="Canva Sans"/>
                <a:ea typeface="Canva Sans"/>
                <a:cs typeface="Canva Sans"/>
                <a:sym typeface="Canva Sans"/>
              </a:rPr>
              <a:t> </a:t>
            </a:r>
            <a:r>
              <a:rPr lang="en-US" sz="2000" strike="noStrike" u="none">
                <a:solidFill>
                  <a:srgbClr val="474747"/>
                </a:solidFill>
                <a:latin typeface="Canva Sans"/>
                <a:ea typeface="Canva Sans"/>
                <a:cs typeface="Canva Sans"/>
                <a:sym typeface="Canva Sans"/>
              </a:rPr>
              <a:t>wa</a:t>
            </a:r>
            <a:r>
              <a:rPr lang="en-US" sz="2000" strike="noStrike" u="none">
                <a:solidFill>
                  <a:srgbClr val="474747"/>
                </a:solidFill>
                <a:latin typeface="Canva Sans"/>
                <a:ea typeface="Canva Sans"/>
                <a:cs typeface="Canva Sans"/>
                <a:sym typeface="Canva Sans"/>
              </a:rPr>
              <a:t>s r</a:t>
            </a:r>
            <a:r>
              <a:rPr lang="en-US" sz="2000" strike="noStrike" u="none">
                <a:solidFill>
                  <a:srgbClr val="474747"/>
                </a:solidFill>
                <a:latin typeface="Canva Sans"/>
                <a:ea typeface="Canva Sans"/>
                <a:cs typeface="Canva Sans"/>
                <a:sym typeface="Canva Sans"/>
              </a:rPr>
              <a:t>ev</a:t>
            </a:r>
            <a:r>
              <a:rPr lang="en-US" sz="2000" strike="noStrike" u="none">
                <a:solidFill>
                  <a:srgbClr val="474747"/>
                </a:solidFill>
                <a:latin typeface="Canva Sans"/>
                <a:ea typeface="Canva Sans"/>
                <a:cs typeface="Canva Sans"/>
                <a:sym typeface="Canva Sans"/>
              </a:rPr>
              <a:t>i</a:t>
            </a:r>
            <a:r>
              <a:rPr lang="en-US" sz="2000" strike="noStrike" u="none">
                <a:solidFill>
                  <a:srgbClr val="474747"/>
                </a:solidFill>
                <a:latin typeface="Canva Sans"/>
                <a:ea typeface="Canva Sans"/>
                <a:cs typeface="Canva Sans"/>
                <a:sym typeface="Canva Sans"/>
              </a:rPr>
              <a:t>ewed</a:t>
            </a:r>
            <a:r>
              <a:rPr lang="en-US" sz="2000" strike="noStrike" u="none">
                <a:solidFill>
                  <a:srgbClr val="474747"/>
                </a:solidFill>
                <a:latin typeface="Canva Sans"/>
                <a:ea typeface="Canva Sans"/>
                <a:cs typeface="Canva Sans"/>
                <a:sym typeface="Canva Sans"/>
              </a:rPr>
              <a:t> a</a:t>
            </a:r>
            <a:r>
              <a:rPr lang="en-US" sz="2000" strike="noStrike" u="none">
                <a:solidFill>
                  <a:srgbClr val="474747"/>
                </a:solidFill>
                <a:latin typeface="Canva Sans"/>
                <a:ea typeface="Canva Sans"/>
                <a:cs typeface="Canva Sans"/>
                <a:sym typeface="Canva Sans"/>
              </a:rPr>
              <a:t>nd</a:t>
            </a:r>
            <a:r>
              <a:rPr lang="en-US" sz="2000" strike="noStrike" u="none">
                <a:solidFill>
                  <a:srgbClr val="474747"/>
                </a:solidFill>
                <a:latin typeface="Canva Sans"/>
                <a:ea typeface="Canva Sans"/>
                <a:cs typeface="Canva Sans"/>
                <a:sym typeface="Canva Sans"/>
              </a:rPr>
              <a:t> con</a:t>
            </a:r>
            <a:r>
              <a:rPr lang="en-US" sz="2000" strike="noStrike" u="none">
                <a:solidFill>
                  <a:srgbClr val="474747"/>
                </a:solidFill>
                <a:latin typeface="Canva Sans"/>
                <a:ea typeface="Canva Sans"/>
                <a:cs typeface="Canva Sans"/>
                <a:sym typeface="Canva Sans"/>
              </a:rPr>
              <a:t>v</a:t>
            </a:r>
            <a:r>
              <a:rPr lang="en-US" sz="2000" strike="noStrike" u="none">
                <a:solidFill>
                  <a:srgbClr val="474747"/>
                </a:solidFill>
                <a:latin typeface="Canva Sans"/>
                <a:ea typeface="Canva Sans"/>
                <a:cs typeface="Canva Sans"/>
                <a:sym typeface="Canva Sans"/>
              </a:rPr>
              <a:t>e</a:t>
            </a:r>
            <a:r>
              <a:rPr lang="en-US" sz="2000" strike="noStrike" u="none">
                <a:solidFill>
                  <a:srgbClr val="474747"/>
                </a:solidFill>
                <a:latin typeface="Canva Sans"/>
                <a:ea typeface="Canva Sans"/>
                <a:cs typeface="Canva Sans"/>
                <a:sym typeface="Canva Sans"/>
              </a:rPr>
              <a:t>r</a:t>
            </a:r>
            <a:r>
              <a:rPr lang="en-US" sz="2000" strike="noStrike" u="none">
                <a:solidFill>
                  <a:srgbClr val="474747"/>
                </a:solidFill>
                <a:latin typeface="Canva Sans"/>
                <a:ea typeface="Canva Sans"/>
                <a:cs typeface="Canva Sans"/>
                <a:sym typeface="Canva Sans"/>
              </a:rPr>
              <a:t>te</a:t>
            </a:r>
            <a:r>
              <a:rPr lang="en-US" sz="2000" strike="noStrike" u="none">
                <a:solidFill>
                  <a:srgbClr val="474747"/>
                </a:solidFill>
                <a:latin typeface="Canva Sans"/>
                <a:ea typeface="Canva Sans"/>
                <a:cs typeface="Canva Sans"/>
                <a:sym typeface="Canva Sans"/>
              </a:rPr>
              <a:t>d</a:t>
            </a:r>
            <a:r>
              <a:rPr lang="en-US" sz="2000" strike="noStrike" u="none">
                <a:solidFill>
                  <a:srgbClr val="474747"/>
                </a:solidFill>
                <a:latin typeface="Canva Sans"/>
                <a:ea typeface="Canva Sans"/>
                <a:cs typeface="Canva Sans"/>
                <a:sym typeface="Canva Sans"/>
              </a:rPr>
              <a:t> in</a:t>
            </a:r>
            <a:r>
              <a:rPr lang="en-US" sz="2000" strike="noStrike" u="none">
                <a:solidFill>
                  <a:srgbClr val="474747"/>
                </a:solidFill>
                <a:latin typeface="Canva Sans"/>
                <a:ea typeface="Canva Sans"/>
                <a:cs typeface="Canva Sans"/>
                <a:sym typeface="Canva Sans"/>
              </a:rPr>
              <a:t>to</a:t>
            </a:r>
            <a:r>
              <a:rPr lang="en-US" sz="2000" strike="noStrike" u="none">
                <a:solidFill>
                  <a:srgbClr val="474747"/>
                </a:solidFill>
                <a:latin typeface="Canva Sans"/>
                <a:ea typeface="Canva Sans"/>
                <a:cs typeface="Canva Sans"/>
                <a:sym typeface="Canva Sans"/>
              </a:rPr>
              <a:t> </a:t>
            </a:r>
            <a:r>
              <a:rPr lang="en-US" sz="2000" strike="noStrike" u="none">
                <a:solidFill>
                  <a:srgbClr val="474747"/>
                </a:solidFill>
                <a:latin typeface="Canva Sans"/>
                <a:ea typeface="Canva Sans"/>
                <a:cs typeface="Canva Sans"/>
                <a:sym typeface="Canva Sans"/>
              </a:rPr>
              <a:t>th</a:t>
            </a:r>
            <a:r>
              <a:rPr lang="en-US" sz="2000" strike="noStrike" u="none">
                <a:solidFill>
                  <a:srgbClr val="474747"/>
                </a:solidFill>
                <a:latin typeface="Canva Sans"/>
                <a:ea typeface="Canva Sans"/>
                <a:cs typeface="Canva Sans"/>
                <a:sym typeface="Canva Sans"/>
              </a:rPr>
              <a:t>e</a:t>
            </a:r>
            <a:r>
              <a:rPr lang="en-US" sz="2000" strike="noStrike" u="none">
                <a:solidFill>
                  <a:srgbClr val="474747"/>
                </a:solidFill>
                <a:latin typeface="Canva Sans"/>
                <a:ea typeface="Canva Sans"/>
                <a:cs typeface="Canva Sans"/>
                <a:sym typeface="Canva Sans"/>
              </a:rPr>
              <a:t> appropr</a:t>
            </a:r>
            <a:r>
              <a:rPr lang="en-US" sz="2000" strike="noStrike" u="none">
                <a:solidFill>
                  <a:srgbClr val="474747"/>
                </a:solidFill>
                <a:latin typeface="Canva Sans"/>
                <a:ea typeface="Canva Sans"/>
                <a:cs typeface="Canva Sans"/>
                <a:sym typeface="Canva Sans"/>
              </a:rPr>
              <a:t>i</a:t>
            </a:r>
            <a:r>
              <a:rPr lang="en-US" sz="2000" strike="noStrike" u="none">
                <a:solidFill>
                  <a:srgbClr val="474747"/>
                </a:solidFill>
                <a:latin typeface="Canva Sans"/>
                <a:ea typeface="Canva Sans"/>
                <a:cs typeface="Canva Sans"/>
                <a:sym typeface="Canva Sans"/>
              </a:rPr>
              <a:t>a</a:t>
            </a:r>
            <a:r>
              <a:rPr lang="en-US" sz="2000" strike="noStrike" u="none">
                <a:solidFill>
                  <a:srgbClr val="474747"/>
                </a:solidFill>
                <a:latin typeface="Canva Sans"/>
                <a:ea typeface="Canva Sans"/>
                <a:cs typeface="Canva Sans"/>
                <a:sym typeface="Canva Sans"/>
              </a:rPr>
              <a:t>t</a:t>
            </a:r>
            <a:r>
              <a:rPr lang="en-US" sz="2000" strike="noStrike" u="none">
                <a:solidFill>
                  <a:srgbClr val="474747"/>
                </a:solidFill>
                <a:latin typeface="Canva Sans"/>
                <a:ea typeface="Canva Sans"/>
                <a:cs typeface="Canva Sans"/>
                <a:sym typeface="Canva Sans"/>
              </a:rPr>
              <a:t>e</a:t>
            </a:r>
            <a:r>
              <a:rPr lang="en-US" sz="2000" strike="noStrike" u="none">
                <a:solidFill>
                  <a:srgbClr val="474747"/>
                </a:solidFill>
                <a:latin typeface="Canva Sans"/>
                <a:ea typeface="Canva Sans"/>
                <a:cs typeface="Canva Sans"/>
                <a:sym typeface="Canva Sans"/>
              </a:rPr>
              <a:t> </a:t>
            </a:r>
            <a:r>
              <a:rPr lang="en-US" sz="2000" strike="noStrike" u="none">
                <a:solidFill>
                  <a:srgbClr val="474747"/>
                </a:solidFill>
                <a:latin typeface="Canva Sans"/>
                <a:ea typeface="Canva Sans"/>
                <a:cs typeface="Canva Sans"/>
                <a:sym typeface="Canva Sans"/>
              </a:rPr>
              <a:t>data</a:t>
            </a:r>
            <a:r>
              <a:rPr lang="en-US" sz="2000" strike="noStrike" u="none">
                <a:solidFill>
                  <a:srgbClr val="474747"/>
                </a:solidFill>
                <a:latin typeface="Canva Sans"/>
                <a:ea typeface="Canva Sans"/>
                <a:cs typeface="Canva Sans"/>
                <a:sym typeface="Canva Sans"/>
              </a:rPr>
              <a:t> </a:t>
            </a:r>
            <a:r>
              <a:rPr lang="en-US" sz="2000" strike="noStrike" u="none">
                <a:solidFill>
                  <a:srgbClr val="474747"/>
                </a:solidFill>
                <a:latin typeface="Canva Sans"/>
                <a:ea typeface="Canva Sans"/>
                <a:cs typeface="Canva Sans"/>
                <a:sym typeface="Canva Sans"/>
              </a:rPr>
              <a:t>ty</a:t>
            </a:r>
            <a:r>
              <a:rPr lang="en-US" sz="2000" strike="noStrike" u="none">
                <a:solidFill>
                  <a:srgbClr val="474747"/>
                </a:solidFill>
                <a:latin typeface="Canva Sans"/>
                <a:ea typeface="Canva Sans"/>
                <a:cs typeface="Canva Sans"/>
                <a:sym typeface="Canva Sans"/>
              </a:rPr>
              <a:t>p</a:t>
            </a:r>
            <a:r>
              <a:rPr lang="en-US" sz="2000" strike="noStrike" u="none">
                <a:solidFill>
                  <a:srgbClr val="474747"/>
                </a:solidFill>
                <a:latin typeface="Canva Sans"/>
                <a:ea typeface="Canva Sans"/>
                <a:cs typeface="Canva Sans"/>
                <a:sym typeface="Canva Sans"/>
              </a:rPr>
              <a:t>e (n</a:t>
            </a:r>
            <a:r>
              <a:rPr lang="en-US" sz="2000" strike="noStrike" u="none">
                <a:solidFill>
                  <a:srgbClr val="474747"/>
                </a:solidFill>
                <a:latin typeface="Canva Sans"/>
                <a:ea typeface="Canva Sans"/>
                <a:cs typeface="Canva Sans"/>
                <a:sym typeface="Canva Sans"/>
              </a:rPr>
              <a:t>u</a:t>
            </a:r>
            <a:r>
              <a:rPr lang="en-US" sz="2000" strike="noStrike" u="none">
                <a:solidFill>
                  <a:srgbClr val="474747"/>
                </a:solidFill>
                <a:latin typeface="Canva Sans"/>
                <a:ea typeface="Canva Sans"/>
                <a:cs typeface="Canva Sans"/>
                <a:sym typeface="Canva Sans"/>
              </a:rPr>
              <a:t>m</a:t>
            </a:r>
            <a:r>
              <a:rPr lang="en-US" sz="2000" strike="noStrike" u="none">
                <a:solidFill>
                  <a:srgbClr val="474747"/>
                </a:solidFill>
                <a:latin typeface="Canva Sans"/>
                <a:ea typeface="Canva Sans"/>
                <a:cs typeface="Canva Sans"/>
                <a:sym typeface="Canva Sans"/>
              </a:rPr>
              <a:t>er</a:t>
            </a:r>
            <a:r>
              <a:rPr lang="en-US" sz="2000" strike="noStrike" u="none">
                <a:solidFill>
                  <a:srgbClr val="474747"/>
                </a:solidFill>
                <a:latin typeface="Canva Sans"/>
                <a:ea typeface="Canva Sans"/>
                <a:cs typeface="Canva Sans"/>
                <a:sym typeface="Canva Sans"/>
              </a:rPr>
              <a:t>ic,</a:t>
            </a:r>
            <a:r>
              <a:rPr lang="en-US" sz="2000" strike="noStrike" u="none">
                <a:solidFill>
                  <a:srgbClr val="474747"/>
                </a:solidFill>
                <a:latin typeface="Canva Sans"/>
                <a:ea typeface="Canva Sans"/>
                <a:cs typeface="Canva Sans"/>
                <a:sym typeface="Canva Sans"/>
              </a:rPr>
              <a:t> </a:t>
            </a:r>
            <a:r>
              <a:rPr lang="en-US" sz="2000" strike="noStrike" u="none">
                <a:solidFill>
                  <a:srgbClr val="474747"/>
                </a:solidFill>
                <a:latin typeface="Canva Sans"/>
                <a:ea typeface="Canva Sans"/>
                <a:cs typeface="Canva Sans"/>
                <a:sym typeface="Canva Sans"/>
              </a:rPr>
              <a:t>t</a:t>
            </a:r>
            <a:r>
              <a:rPr lang="en-US" sz="2000" strike="noStrike" u="none">
                <a:solidFill>
                  <a:srgbClr val="474747"/>
                </a:solidFill>
                <a:latin typeface="Canva Sans"/>
                <a:ea typeface="Canva Sans"/>
                <a:cs typeface="Canva Sans"/>
                <a:sym typeface="Canva Sans"/>
              </a:rPr>
              <a:t>e</a:t>
            </a:r>
            <a:r>
              <a:rPr lang="en-US" sz="2000" strike="noStrike" u="none">
                <a:solidFill>
                  <a:srgbClr val="474747"/>
                </a:solidFill>
                <a:latin typeface="Canva Sans"/>
                <a:ea typeface="Canva Sans"/>
                <a:cs typeface="Canva Sans"/>
                <a:sym typeface="Canva Sans"/>
              </a:rPr>
              <a:t>xt, o</a:t>
            </a:r>
            <a:r>
              <a:rPr lang="en-US" sz="2000" strike="noStrike" u="none">
                <a:solidFill>
                  <a:srgbClr val="474747"/>
                </a:solidFill>
                <a:latin typeface="Canva Sans"/>
                <a:ea typeface="Canva Sans"/>
                <a:cs typeface="Canva Sans"/>
                <a:sym typeface="Canva Sans"/>
              </a:rPr>
              <a:t>r</a:t>
            </a:r>
            <a:r>
              <a:rPr lang="en-US" sz="2000" strike="noStrike" u="none">
                <a:solidFill>
                  <a:srgbClr val="474747"/>
                </a:solidFill>
                <a:latin typeface="Canva Sans"/>
                <a:ea typeface="Canva Sans"/>
                <a:cs typeface="Canva Sans"/>
                <a:sym typeface="Canva Sans"/>
              </a:rPr>
              <a:t> date) t</a:t>
            </a:r>
            <a:r>
              <a:rPr lang="en-US" sz="2000" strike="noStrike" u="none">
                <a:solidFill>
                  <a:srgbClr val="474747"/>
                </a:solidFill>
                <a:latin typeface="Canva Sans"/>
                <a:ea typeface="Canva Sans"/>
                <a:cs typeface="Canva Sans"/>
                <a:sym typeface="Canva Sans"/>
              </a:rPr>
              <a:t>o </a:t>
            </a:r>
            <a:r>
              <a:rPr lang="en-US" sz="2000" strike="noStrike" u="none">
                <a:solidFill>
                  <a:srgbClr val="474747"/>
                </a:solidFill>
                <a:latin typeface="Canva Sans"/>
                <a:ea typeface="Canva Sans"/>
                <a:cs typeface="Canva Sans"/>
                <a:sym typeface="Canva Sans"/>
              </a:rPr>
              <a:t>preve</a:t>
            </a:r>
            <a:r>
              <a:rPr lang="en-US" sz="2000" strike="noStrike" u="none">
                <a:solidFill>
                  <a:srgbClr val="474747"/>
                </a:solidFill>
                <a:latin typeface="Canva Sans"/>
                <a:ea typeface="Canva Sans"/>
                <a:cs typeface="Canva Sans"/>
                <a:sym typeface="Canva Sans"/>
              </a:rPr>
              <a:t>n</a:t>
            </a:r>
            <a:r>
              <a:rPr lang="en-US" sz="2000" strike="noStrike" u="none">
                <a:solidFill>
                  <a:srgbClr val="474747"/>
                </a:solidFill>
                <a:latin typeface="Canva Sans"/>
                <a:ea typeface="Canva Sans"/>
                <a:cs typeface="Canva Sans"/>
                <a:sym typeface="Canva Sans"/>
              </a:rPr>
              <a:t>t calc</a:t>
            </a:r>
            <a:r>
              <a:rPr lang="en-US" sz="2000" strike="noStrike" u="none">
                <a:solidFill>
                  <a:srgbClr val="474747"/>
                </a:solidFill>
                <a:latin typeface="Canva Sans"/>
                <a:ea typeface="Canva Sans"/>
                <a:cs typeface="Canva Sans"/>
                <a:sym typeface="Canva Sans"/>
              </a:rPr>
              <a:t>u</a:t>
            </a:r>
            <a:r>
              <a:rPr lang="en-US" sz="2000" strike="noStrike" u="none">
                <a:solidFill>
                  <a:srgbClr val="474747"/>
                </a:solidFill>
                <a:latin typeface="Canva Sans"/>
                <a:ea typeface="Canva Sans"/>
                <a:cs typeface="Canva Sans"/>
                <a:sym typeface="Canva Sans"/>
              </a:rPr>
              <a:t>latio</a:t>
            </a:r>
            <a:r>
              <a:rPr lang="en-US" sz="2000" strike="noStrike" u="none">
                <a:solidFill>
                  <a:srgbClr val="474747"/>
                </a:solidFill>
                <a:latin typeface="Canva Sans"/>
                <a:ea typeface="Canva Sans"/>
                <a:cs typeface="Canva Sans"/>
                <a:sym typeface="Canva Sans"/>
              </a:rPr>
              <a:t>n </a:t>
            </a:r>
            <a:r>
              <a:rPr lang="en-US" sz="2000" strike="noStrike" u="none">
                <a:solidFill>
                  <a:srgbClr val="474747"/>
                </a:solidFill>
                <a:latin typeface="Canva Sans"/>
                <a:ea typeface="Canva Sans"/>
                <a:cs typeface="Canva Sans"/>
                <a:sym typeface="Canva Sans"/>
              </a:rPr>
              <a:t>a</a:t>
            </a:r>
            <a:r>
              <a:rPr lang="en-US" sz="2000" strike="noStrike" u="none">
                <a:solidFill>
                  <a:srgbClr val="474747"/>
                </a:solidFill>
                <a:latin typeface="Canva Sans"/>
                <a:ea typeface="Canva Sans"/>
                <a:cs typeface="Canva Sans"/>
                <a:sym typeface="Canva Sans"/>
              </a:rPr>
              <a:t>n</a:t>
            </a:r>
            <a:r>
              <a:rPr lang="en-US" sz="2000" strike="noStrike" u="none">
                <a:solidFill>
                  <a:srgbClr val="474747"/>
                </a:solidFill>
                <a:latin typeface="Canva Sans"/>
                <a:ea typeface="Canva Sans"/>
                <a:cs typeface="Canva Sans"/>
                <a:sym typeface="Canva Sans"/>
              </a:rPr>
              <a:t>d aggregati</a:t>
            </a:r>
            <a:r>
              <a:rPr lang="en-US" sz="2000" strike="noStrike" u="none">
                <a:solidFill>
                  <a:srgbClr val="474747"/>
                </a:solidFill>
                <a:latin typeface="Canva Sans"/>
                <a:ea typeface="Canva Sans"/>
                <a:cs typeface="Canva Sans"/>
                <a:sym typeface="Canva Sans"/>
              </a:rPr>
              <a:t>on </a:t>
            </a:r>
            <a:r>
              <a:rPr lang="en-US" sz="2000" strike="noStrike" u="none">
                <a:solidFill>
                  <a:srgbClr val="474747"/>
                </a:solidFill>
                <a:latin typeface="Canva Sans"/>
                <a:ea typeface="Canva Sans"/>
                <a:cs typeface="Canva Sans"/>
                <a:sym typeface="Canva Sans"/>
              </a:rPr>
              <a:t>error</a:t>
            </a:r>
            <a:r>
              <a:rPr lang="en-US" sz="2000" strike="noStrike" u="none">
                <a:solidFill>
                  <a:srgbClr val="474747"/>
                </a:solidFill>
                <a:latin typeface="Canva Sans"/>
                <a:ea typeface="Canva Sans"/>
                <a:cs typeface="Canva Sans"/>
                <a:sym typeface="Canva Sans"/>
              </a:rPr>
              <a:t>s </a:t>
            </a:r>
            <a:r>
              <a:rPr lang="en-US" sz="2000" strike="noStrike" u="none">
                <a:solidFill>
                  <a:srgbClr val="474747"/>
                </a:solidFill>
                <a:latin typeface="Canva Sans"/>
                <a:ea typeface="Canva Sans"/>
                <a:cs typeface="Canva Sans"/>
                <a:sym typeface="Canva Sans"/>
              </a:rPr>
              <a:t>d</a:t>
            </a:r>
            <a:r>
              <a:rPr lang="en-US" sz="2000" strike="noStrike" u="none">
                <a:solidFill>
                  <a:srgbClr val="474747"/>
                </a:solidFill>
                <a:latin typeface="Canva Sans"/>
                <a:ea typeface="Canva Sans"/>
                <a:cs typeface="Canva Sans"/>
                <a:sym typeface="Canva Sans"/>
              </a:rPr>
              <a:t>uri</a:t>
            </a:r>
            <a:r>
              <a:rPr lang="en-US" sz="2000" strike="noStrike" u="none">
                <a:solidFill>
                  <a:srgbClr val="474747"/>
                </a:solidFill>
                <a:latin typeface="Canva Sans"/>
                <a:ea typeface="Canva Sans"/>
                <a:cs typeface="Canva Sans"/>
                <a:sym typeface="Canva Sans"/>
              </a:rPr>
              <a:t>ng</a:t>
            </a:r>
            <a:r>
              <a:rPr lang="en-US" sz="2000" strike="noStrike" u="none">
                <a:solidFill>
                  <a:srgbClr val="474747"/>
                </a:solidFill>
                <a:latin typeface="Canva Sans"/>
                <a:ea typeface="Canva Sans"/>
                <a:cs typeface="Canva Sans"/>
                <a:sym typeface="Canva Sans"/>
              </a:rPr>
              <a:t> </a:t>
            </a:r>
            <a:r>
              <a:rPr lang="en-US" sz="2000" strike="noStrike" u="none">
                <a:solidFill>
                  <a:srgbClr val="474747"/>
                </a:solidFill>
                <a:latin typeface="Canva Sans"/>
                <a:ea typeface="Canva Sans"/>
                <a:cs typeface="Canva Sans"/>
                <a:sym typeface="Canva Sans"/>
              </a:rPr>
              <a:t>analy</a:t>
            </a:r>
            <a:r>
              <a:rPr lang="en-US" sz="2000" strike="noStrike" u="none">
                <a:solidFill>
                  <a:srgbClr val="474747"/>
                </a:solidFill>
                <a:latin typeface="Canva Sans"/>
                <a:ea typeface="Canva Sans"/>
                <a:cs typeface="Canva Sans"/>
                <a:sym typeface="Canva Sans"/>
              </a:rPr>
              <a:t>sis.</a:t>
            </a:r>
          </a:p>
        </p:txBody>
      </p:sp>
      <p:sp>
        <p:nvSpPr>
          <p:cNvPr name="TextBox 6" id="6"/>
          <p:cNvSpPr txBox="true"/>
          <p:nvPr/>
        </p:nvSpPr>
        <p:spPr>
          <a:xfrm rot="0">
            <a:off x="3582446" y="2710623"/>
            <a:ext cx="12520831" cy="455295"/>
          </a:xfrm>
          <a:prstGeom prst="rect">
            <a:avLst/>
          </a:prstGeom>
        </p:spPr>
        <p:txBody>
          <a:bodyPr anchor="t" rtlCol="false" tIns="0" lIns="0" bIns="0" rIns="0">
            <a:spAutoFit/>
          </a:bodyPr>
          <a:lstStyle/>
          <a:p>
            <a:pPr algn="l">
              <a:lnSpc>
                <a:spcPts val="3780"/>
              </a:lnSpc>
              <a:spcBef>
                <a:spcPct val="0"/>
              </a:spcBef>
            </a:pPr>
            <a:r>
              <a:rPr lang="en-US" sz="2700" b="true">
                <a:solidFill>
                  <a:srgbClr val="000000"/>
                </a:solidFill>
                <a:latin typeface="Inter Medium"/>
                <a:ea typeface="Inter Medium"/>
                <a:cs typeface="Inter Medium"/>
                <a:sym typeface="Inter Medium"/>
              </a:rPr>
              <a:t>Data types were adjusted to ensure numerical and categor</a:t>
            </a:r>
            <a:r>
              <a:rPr lang="en-US" sz="2700" b="true">
                <a:solidFill>
                  <a:srgbClr val="000000"/>
                </a:solidFill>
                <a:latin typeface="Inter Medium"/>
                <a:ea typeface="Inter Medium"/>
                <a:cs typeface="Inter Medium"/>
                <a:sym typeface="Inter Medium"/>
              </a:rPr>
              <a:t>ical accuracy</a:t>
            </a:r>
          </a:p>
        </p:txBody>
      </p:sp>
      <p:grpSp>
        <p:nvGrpSpPr>
          <p:cNvPr name="Group 7" id="7"/>
          <p:cNvGrpSpPr/>
          <p:nvPr/>
        </p:nvGrpSpPr>
        <p:grpSpPr>
          <a:xfrm rot="0">
            <a:off x="-2182842" y="-4129993"/>
            <a:ext cx="3086100" cy="6112748"/>
            <a:chOff x="0" y="0"/>
            <a:chExt cx="812800" cy="1609942"/>
          </a:xfrm>
        </p:grpSpPr>
        <p:sp>
          <p:nvSpPr>
            <p:cNvPr name="Freeform 8" id="8"/>
            <p:cNvSpPr/>
            <p:nvPr/>
          </p:nvSpPr>
          <p:spPr>
            <a:xfrm flipH="false" flipV="false" rot="0">
              <a:off x="0" y="0"/>
              <a:ext cx="812800" cy="1609942"/>
            </a:xfrm>
            <a:custGeom>
              <a:avLst/>
              <a:gdLst/>
              <a:ahLst/>
              <a:cxnLst/>
              <a:rect r="r" b="b" t="t" l="l"/>
              <a:pathLst>
                <a:path h="1609942" w="812800">
                  <a:moveTo>
                    <a:pt x="0" y="0"/>
                  </a:moveTo>
                  <a:lnTo>
                    <a:pt x="812800" y="0"/>
                  </a:lnTo>
                  <a:lnTo>
                    <a:pt x="812800" y="1609942"/>
                  </a:lnTo>
                  <a:lnTo>
                    <a:pt x="0" y="1609942"/>
                  </a:lnTo>
                  <a:close/>
                </a:path>
              </a:pathLst>
            </a:custGeom>
            <a:solidFill>
              <a:srgbClr val="FFDE59"/>
            </a:solidFill>
          </p:spPr>
        </p:sp>
        <p:sp>
          <p:nvSpPr>
            <p:cNvPr name="TextBox 9" id="9"/>
            <p:cNvSpPr txBox="true"/>
            <p:nvPr/>
          </p:nvSpPr>
          <p:spPr>
            <a:xfrm>
              <a:off x="0" y="-38100"/>
              <a:ext cx="812800" cy="1648042"/>
            </a:xfrm>
            <a:prstGeom prst="rect">
              <a:avLst/>
            </a:prstGeom>
          </p:spPr>
          <p:txBody>
            <a:bodyPr anchor="ctr" rtlCol="false" tIns="50800" lIns="50800" bIns="50800" rIns="50800"/>
            <a:lstStyle/>
            <a:p>
              <a:pPr algn="ctr">
                <a:lnSpc>
                  <a:spcPts val="2940"/>
                </a:lnSpc>
              </a:pPr>
            </a:p>
          </p:txBody>
        </p:sp>
      </p:grpSp>
      <p:sp>
        <p:nvSpPr>
          <p:cNvPr name="TextBox 10" id="10"/>
          <p:cNvSpPr txBox="true"/>
          <p:nvPr/>
        </p:nvSpPr>
        <p:spPr>
          <a:xfrm rot="0">
            <a:off x="3582446" y="5013198"/>
            <a:ext cx="12520831" cy="455295"/>
          </a:xfrm>
          <a:prstGeom prst="rect">
            <a:avLst/>
          </a:prstGeom>
        </p:spPr>
        <p:txBody>
          <a:bodyPr anchor="t" rtlCol="false" tIns="0" lIns="0" bIns="0" rIns="0">
            <a:spAutoFit/>
          </a:bodyPr>
          <a:lstStyle/>
          <a:p>
            <a:pPr algn="l">
              <a:lnSpc>
                <a:spcPts val="3780"/>
              </a:lnSpc>
              <a:spcBef>
                <a:spcPct val="0"/>
              </a:spcBef>
            </a:pPr>
            <a:r>
              <a:rPr lang="en-US" sz="2700" b="true">
                <a:solidFill>
                  <a:srgbClr val="000000"/>
                </a:solidFill>
                <a:latin typeface="Inter Medium"/>
                <a:ea typeface="Inter Medium"/>
                <a:cs typeface="Inter Medium"/>
                <a:sym typeface="Inter Medium"/>
              </a:rPr>
              <a:t>Missing values (blanks) were checked and v</a:t>
            </a:r>
            <a:r>
              <a:rPr lang="en-US" sz="2700" b="true">
                <a:solidFill>
                  <a:srgbClr val="000000"/>
                </a:solidFill>
                <a:latin typeface="Inter Medium"/>
                <a:ea typeface="Inter Medium"/>
                <a:cs typeface="Inter Medium"/>
                <a:sym typeface="Inter Medium"/>
              </a:rPr>
              <a:t>alidated</a:t>
            </a:r>
          </a:p>
        </p:txBody>
      </p:sp>
      <p:sp>
        <p:nvSpPr>
          <p:cNvPr name="TextBox 11" id="11"/>
          <p:cNvSpPr txBox="true"/>
          <p:nvPr/>
        </p:nvSpPr>
        <p:spPr>
          <a:xfrm rot="0">
            <a:off x="3582446" y="5525643"/>
            <a:ext cx="11626191" cy="701675"/>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474747"/>
                </a:solidFill>
                <a:latin typeface="Canva Sans"/>
                <a:ea typeface="Canva Sans"/>
                <a:cs typeface="Canva Sans"/>
                <a:sym typeface="Canva Sans"/>
              </a:rPr>
              <a:t>The dataset</a:t>
            </a:r>
            <a:r>
              <a:rPr lang="en-US" sz="2000" strike="noStrike" u="none">
                <a:solidFill>
                  <a:srgbClr val="474747"/>
                </a:solidFill>
                <a:latin typeface="Canva Sans"/>
                <a:ea typeface="Canva Sans"/>
                <a:cs typeface="Canva Sans"/>
                <a:sym typeface="Canva Sans"/>
              </a:rPr>
              <a:t> was e</a:t>
            </a:r>
            <a:r>
              <a:rPr lang="en-US" sz="2000" strike="noStrike" u="none">
                <a:solidFill>
                  <a:srgbClr val="474747"/>
                </a:solidFill>
                <a:latin typeface="Canva Sans"/>
                <a:ea typeface="Canva Sans"/>
                <a:cs typeface="Canva Sans"/>
                <a:sym typeface="Canva Sans"/>
              </a:rPr>
              <a:t>x</a:t>
            </a:r>
            <a:r>
              <a:rPr lang="en-US" sz="2000" strike="noStrike" u="none">
                <a:solidFill>
                  <a:srgbClr val="474747"/>
                </a:solidFill>
                <a:latin typeface="Canva Sans"/>
                <a:ea typeface="Canva Sans"/>
                <a:cs typeface="Canva Sans"/>
                <a:sym typeface="Canva Sans"/>
              </a:rPr>
              <a:t>amin</a:t>
            </a:r>
            <a:r>
              <a:rPr lang="en-US" sz="2000" strike="noStrike" u="none">
                <a:solidFill>
                  <a:srgbClr val="474747"/>
                </a:solidFill>
                <a:latin typeface="Canva Sans"/>
                <a:ea typeface="Canva Sans"/>
                <a:cs typeface="Canva Sans"/>
                <a:sym typeface="Canva Sans"/>
              </a:rPr>
              <a:t>e</a:t>
            </a:r>
            <a:r>
              <a:rPr lang="en-US" sz="2000" strike="noStrike" u="none">
                <a:solidFill>
                  <a:srgbClr val="474747"/>
                </a:solidFill>
                <a:latin typeface="Canva Sans"/>
                <a:ea typeface="Canva Sans"/>
                <a:cs typeface="Canva Sans"/>
                <a:sym typeface="Canva Sans"/>
              </a:rPr>
              <a:t>d for missing values to ensure data complet</a:t>
            </a:r>
            <a:r>
              <a:rPr lang="en-US" sz="2000" strike="noStrike" u="none">
                <a:solidFill>
                  <a:srgbClr val="474747"/>
                </a:solidFill>
                <a:latin typeface="Canva Sans"/>
                <a:ea typeface="Canva Sans"/>
                <a:cs typeface="Canva Sans"/>
                <a:sym typeface="Canva Sans"/>
              </a:rPr>
              <a:t>en</a:t>
            </a:r>
            <a:r>
              <a:rPr lang="en-US" sz="2000" strike="noStrike" u="none">
                <a:solidFill>
                  <a:srgbClr val="474747"/>
                </a:solidFill>
                <a:latin typeface="Canva Sans"/>
                <a:ea typeface="Canva Sans"/>
                <a:cs typeface="Canva Sans"/>
                <a:sym typeface="Canva Sans"/>
              </a:rPr>
              <a:t>e</a:t>
            </a:r>
            <a:r>
              <a:rPr lang="en-US" sz="2000" strike="noStrike" u="none">
                <a:solidFill>
                  <a:srgbClr val="474747"/>
                </a:solidFill>
                <a:latin typeface="Canva Sans"/>
                <a:ea typeface="Canva Sans"/>
                <a:cs typeface="Canva Sans"/>
                <a:sym typeface="Canva Sans"/>
              </a:rPr>
              <a:t>ss</a:t>
            </a:r>
            <a:r>
              <a:rPr lang="en-US" sz="2000" strike="noStrike" u="none">
                <a:solidFill>
                  <a:srgbClr val="474747"/>
                </a:solidFill>
                <a:latin typeface="Canva Sans"/>
                <a:ea typeface="Canva Sans"/>
                <a:cs typeface="Canva Sans"/>
                <a:sym typeface="Canva Sans"/>
              </a:rPr>
              <a:t> </a:t>
            </a:r>
            <a:r>
              <a:rPr lang="en-US" sz="2000" strike="noStrike" u="none">
                <a:solidFill>
                  <a:srgbClr val="474747"/>
                </a:solidFill>
                <a:latin typeface="Canva Sans"/>
                <a:ea typeface="Canva Sans"/>
                <a:cs typeface="Canva Sans"/>
                <a:sym typeface="Canva Sans"/>
              </a:rPr>
              <a:t>a</a:t>
            </a:r>
            <a:r>
              <a:rPr lang="en-US" sz="2000" strike="noStrike" u="none">
                <a:solidFill>
                  <a:srgbClr val="474747"/>
                </a:solidFill>
                <a:latin typeface="Canva Sans"/>
                <a:ea typeface="Canva Sans"/>
                <a:cs typeface="Canva Sans"/>
                <a:sym typeface="Canva Sans"/>
              </a:rPr>
              <a:t>n</a:t>
            </a:r>
            <a:r>
              <a:rPr lang="en-US" sz="2000" strike="noStrike" u="none">
                <a:solidFill>
                  <a:srgbClr val="474747"/>
                </a:solidFill>
                <a:latin typeface="Canva Sans"/>
                <a:ea typeface="Canva Sans"/>
                <a:cs typeface="Canva Sans"/>
                <a:sym typeface="Canva Sans"/>
              </a:rPr>
              <a:t>d</a:t>
            </a:r>
            <a:r>
              <a:rPr lang="en-US" sz="2000" strike="noStrike" u="none">
                <a:solidFill>
                  <a:srgbClr val="474747"/>
                </a:solidFill>
                <a:latin typeface="Canva Sans"/>
                <a:ea typeface="Canva Sans"/>
                <a:cs typeface="Canva Sans"/>
                <a:sym typeface="Canva Sans"/>
              </a:rPr>
              <a:t> t</a:t>
            </a:r>
            <a:r>
              <a:rPr lang="en-US" sz="2000" strike="noStrike" u="none">
                <a:solidFill>
                  <a:srgbClr val="474747"/>
                </a:solidFill>
                <a:latin typeface="Canva Sans"/>
                <a:ea typeface="Canva Sans"/>
                <a:cs typeface="Canva Sans"/>
                <a:sym typeface="Canva Sans"/>
              </a:rPr>
              <a:t>o</a:t>
            </a:r>
            <a:r>
              <a:rPr lang="en-US" sz="2000" strike="noStrike" u="none">
                <a:solidFill>
                  <a:srgbClr val="474747"/>
                </a:solidFill>
                <a:latin typeface="Canva Sans"/>
                <a:ea typeface="Canva Sans"/>
                <a:cs typeface="Canva Sans"/>
                <a:sym typeface="Canva Sans"/>
              </a:rPr>
              <a:t> </a:t>
            </a:r>
            <a:r>
              <a:rPr lang="en-US" sz="2000" strike="noStrike" u="none">
                <a:solidFill>
                  <a:srgbClr val="474747"/>
                </a:solidFill>
                <a:latin typeface="Canva Sans"/>
                <a:ea typeface="Canva Sans"/>
                <a:cs typeface="Canva Sans"/>
                <a:sym typeface="Canva Sans"/>
              </a:rPr>
              <a:t>c</a:t>
            </a:r>
            <a:r>
              <a:rPr lang="en-US" sz="2000" strike="noStrike" u="none">
                <a:solidFill>
                  <a:srgbClr val="474747"/>
                </a:solidFill>
                <a:latin typeface="Canva Sans"/>
                <a:ea typeface="Canva Sans"/>
                <a:cs typeface="Canva Sans"/>
                <a:sym typeface="Canva Sans"/>
              </a:rPr>
              <a:t>o</a:t>
            </a:r>
            <a:r>
              <a:rPr lang="en-US" sz="2000" strike="noStrike" u="none">
                <a:solidFill>
                  <a:srgbClr val="474747"/>
                </a:solidFill>
                <a:latin typeface="Canva Sans"/>
                <a:ea typeface="Canva Sans"/>
                <a:cs typeface="Canva Sans"/>
                <a:sym typeface="Canva Sans"/>
              </a:rPr>
              <a:t>nfi</a:t>
            </a:r>
            <a:r>
              <a:rPr lang="en-US" sz="2000" strike="noStrike" u="none">
                <a:solidFill>
                  <a:srgbClr val="474747"/>
                </a:solidFill>
                <a:latin typeface="Canva Sans"/>
                <a:ea typeface="Canva Sans"/>
                <a:cs typeface="Canva Sans"/>
                <a:sym typeface="Canva Sans"/>
              </a:rPr>
              <a:t>rm </a:t>
            </a:r>
            <a:r>
              <a:rPr lang="en-US" sz="2000" strike="noStrike" u="none">
                <a:solidFill>
                  <a:srgbClr val="474747"/>
                </a:solidFill>
                <a:latin typeface="Canva Sans"/>
                <a:ea typeface="Canva Sans"/>
                <a:cs typeface="Canva Sans"/>
                <a:sym typeface="Canva Sans"/>
              </a:rPr>
              <a:t>th</a:t>
            </a:r>
            <a:r>
              <a:rPr lang="en-US" sz="2000" strike="noStrike" u="none">
                <a:solidFill>
                  <a:srgbClr val="474747"/>
                </a:solidFill>
                <a:latin typeface="Canva Sans"/>
                <a:ea typeface="Canva Sans"/>
                <a:cs typeface="Canva Sans"/>
                <a:sym typeface="Canva Sans"/>
              </a:rPr>
              <a:t>at </a:t>
            </a:r>
            <a:r>
              <a:rPr lang="en-US" sz="2000" strike="noStrike" u="none">
                <a:solidFill>
                  <a:srgbClr val="474747"/>
                </a:solidFill>
                <a:latin typeface="Canva Sans"/>
                <a:ea typeface="Canva Sans"/>
                <a:cs typeface="Canva Sans"/>
                <a:sym typeface="Canva Sans"/>
              </a:rPr>
              <a:t>blanks</a:t>
            </a:r>
            <a:r>
              <a:rPr lang="en-US" sz="2000" strike="noStrike" u="none">
                <a:solidFill>
                  <a:srgbClr val="474747"/>
                </a:solidFill>
                <a:latin typeface="Canva Sans"/>
                <a:ea typeface="Canva Sans"/>
                <a:cs typeface="Canva Sans"/>
                <a:sym typeface="Canva Sans"/>
              </a:rPr>
              <a:t> did not a</a:t>
            </a:r>
            <a:r>
              <a:rPr lang="en-US" sz="2000" strike="noStrike" u="none">
                <a:solidFill>
                  <a:srgbClr val="474747"/>
                </a:solidFill>
                <a:latin typeface="Canva Sans"/>
                <a:ea typeface="Canva Sans"/>
                <a:cs typeface="Canva Sans"/>
                <a:sym typeface="Canva Sans"/>
              </a:rPr>
              <a:t>ffe</a:t>
            </a:r>
            <a:r>
              <a:rPr lang="en-US" sz="2000" strike="noStrike" u="none">
                <a:solidFill>
                  <a:srgbClr val="474747"/>
                </a:solidFill>
                <a:latin typeface="Canva Sans"/>
                <a:ea typeface="Canva Sans"/>
                <a:cs typeface="Canva Sans"/>
                <a:sym typeface="Canva Sans"/>
              </a:rPr>
              <a:t>ct the re</a:t>
            </a:r>
            <a:r>
              <a:rPr lang="en-US" sz="2000" strike="noStrike" u="none">
                <a:solidFill>
                  <a:srgbClr val="474747"/>
                </a:solidFill>
                <a:latin typeface="Canva Sans"/>
                <a:ea typeface="Canva Sans"/>
                <a:cs typeface="Canva Sans"/>
                <a:sym typeface="Canva Sans"/>
              </a:rPr>
              <a:t>li</a:t>
            </a:r>
            <a:r>
              <a:rPr lang="en-US" sz="2000" strike="noStrike" u="none">
                <a:solidFill>
                  <a:srgbClr val="474747"/>
                </a:solidFill>
                <a:latin typeface="Canva Sans"/>
                <a:ea typeface="Canva Sans"/>
                <a:cs typeface="Canva Sans"/>
                <a:sym typeface="Canva Sans"/>
              </a:rPr>
              <a:t>a</a:t>
            </a:r>
            <a:r>
              <a:rPr lang="en-US" sz="2000" strike="noStrike" u="none">
                <a:solidFill>
                  <a:srgbClr val="474747"/>
                </a:solidFill>
                <a:latin typeface="Canva Sans"/>
                <a:ea typeface="Canva Sans"/>
                <a:cs typeface="Canva Sans"/>
                <a:sym typeface="Canva Sans"/>
              </a:rPr>
              <a:t>bili</a:t>
            </a:r>
            <a:r>
              <a:rPr lang="en-US" sz="2000" strike="noStrike" u="none">
                <a:solidFill>
                  <a:srgbClr val="474747"/>
                </a:solidFill>
                <a:latin typeface="Canva Sans"/>
                <a:ea typeface="Canva Sans"/>
                <a:cs typeface="Canva Sans"/>
                <a:sym typeface="Canva Sans"/>
              </a:rPr>
              <a:t>t</a:t>
            </a:r>
            <a:r>
              <a:rPr lang="en-US" sz="2000" strike="noStrike" u="none">
                <a:solidFill>
                  <a:srgbClr val="474747"/>
                </a:solidFill>
                <a:latin typeface="Canva Sans"/>
                <a:ea typeface="Canva Sans"/>
                <a:cs typeface="Canva Sans"/>
                <a:sym typeface="Canva Sans"/>
              </a:rPr>
              <a:t>y</a:t>
            </a:r>
            <a:r>
              <a:rPr lang="en-US" sz="2000" strike="noStrike" u="none">
                <a:solidFill>
                  <a:srgbClr val="474747"/>
                </a:solidFill>
                <a:latin typeface="Canva Sans"/>
                <a:ea typeface="Canva Sans"/>
                <a:cs typeface="Canva Sans"/>
                <a:sym typeface="Canva Sans"/>
              </a:rPr>
              <a:t> o</a:t>
            </a:r>
            <a:r>
              <a:rPr lang="en-US" sz="2000" strike="noStrike" u="none">
                <a:solidFill>
                  <a:srgbClr val="474747"/>
                </a:solidFill>
                <a:latin typeface="Canva Sans"/>
                <a:ea typeface="Canva Sans"/>
                <a:cs typeface="Canva Sans"/>
                <a:sym typeface="Canva Sans"/>
              </a:rPr>
              <a:t>f</a:t>
            </a:r>
            <a:r>
              <a:rPr lang="en-US" sz="2000" strike="noStrike" u="none">
                <a:solidFill>
                  <a:srgbClr val="474747"/>
                </a:solidFill>
                <a:latin typeface="Canva Sans"/>
                <a:ea typeface="Canva Sans"/>
                <a:cs typeface="Canva Sans"/>
                <a:sym typeface="Canva Sans"/>
              </a:rPr>
              <a:t> the analysis.</a:t>
            </a:r>
          </a:p>
        </p:txBody>
      </p:sp>
      <p:sp>
        <p:nvSpPr>
          <p:cNvPr name="TextBox 12" id="12"/>
          <p:cNvSpPr txBox="true"/>
          <p:nvPr/>
        </p:nvSpPr>
        <p:spPr>
          <a:xfrm rot="0">
            <a:off x="1587725" y="7341743"/>
            <a:ext cx="1592697" cy="1347470"/>
          </a:xfrm>
          <a:prstGeom prst="rect">
            <a:avLst/>
          </a:prstGeom>
        </p:spPr>
        <p:txBody>
          <a:bodyPr anchor="t" rtlCol="false" tIns="0" lIns="0" bIns="0" rIns="0">
            <a:spAutoFit/>
          </a:bodyPr>
          <a:lstStyle/>
          <a:p>
            <a:pPr algn="ctr">
              <a:lnSpc>
                <a:spcPts val="11065"/>
              </a:lnSpc>
              <a:spcBef>
                <a:spcPct val="0"/>
              </a:spcBef>
            </a:pPr>
            <a:r>
              <a:rPr lang="en-US" b="true" sz="7904">
                <a:solidFill>
                  <a:srgbClr val="FFDE59"/>
                </a:solidFill>
                <a:latin typeface="Inter Bold"/>
                <a:ea typeface="Inter Bold"/>
                <a:cs typeface="Inter Bold"/>
                <a:sym typeface="Inter Bold"/>
              </a:rPr>
              <a:t>03</a:t>
            </a:r>
          </a:p>
        </p:txBody>
      </p:sp>
      <p:sp>
        <p:nvSpPr>
          <p:cNvPr name="TextBox 13" id="13"/>
          <p:cNvSpPr txBox="true"/>
          <p:nvPr/>
        </p:nvSpPr>
        <p:spPr>
          <a:xfrm rot="0">
            <a:off x="3582446" y="7436993"/>
            <a:ext cx="12520831" cy="455295"/>
          </a:xfrm>
          <a:prstGeom prst="rect">
            <a:avLst/>
          </a:prstGeom>
        </p:spPr>
        <p:txBody>
          <a:bodyPr anchor="t" rtlCol="false" tIns="0" lIns="0" bIns="0" rIns="0">
            <a:spAutoFit/>
          </a:bodyPr>
          <a:lstStyle/>
          <a:p>
            <a:pPr algn="l">
              <a:lnSpc>
                <a:spcPts val="3780"/>
              </a:lnSpc>
              <a:spcBef>
                <a:spcPct val="0"/>
              </a:spcBef>
            </a:pPr>
            <a:r>
              <a:rPr lang="en-US" sz="2700" b="true">
                <a:solidFill>
                  <a:srgbClr val="000000"/>
                </a:solidFill>
                <a:latin typeface="Inter Medium"/>
                <a:ea typeface="Inter Medium"/>
                <a:cs typeface="Inter Medium"/>
                <a:sym typeface="Inter Medium"/>
              </a:rPr>
              <a:t>Sales and profit values were reviewed to ensure cons</a:t>
            </a:r>
            <a:r>
              <a:rPr lang="en-US" sz="2700" b="true">
                <a:solidFill>
                  <a:srgbClr val="000000"/>
                </a:solidFill>
                <a:latin typeface="Inter Medium"/>
                <a:ea typeface="Inter Medium"/>
                <a:cs typeface="Inter Medium"/>
                <a:sym typeface="Inter Medium"/>
              </a:rPr>
              <a:t>istency</a:t>
            </a:r>
          </a:p>
        </p:txBody>
      </p:sp>
      <p:sp>
        <p:nvSpPr>
          <p:cNvPr name="TextBox 14" id="14"/>
          <p:cNvSpPr txBox="true"/>
          <p:nvPr/>
        </p:nvSpPr>
        <p:spPr>
          <a:xfrm rot="0">
            <a:off x="3582446" y="7949437"/>
            <a:ext cx="11626191" cy="701675"/>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474747"/>
                </a:solidFill>
                <a:latin typeface="Canva Sans"/>
                <a:ea typeface="Canva Sans"/>
                <a:cs typeface="Canva Sans"/>
                <a:sym typeface="Canva Sans"/>
              </a:rPr>
              <a:t>Sale</a:t>
            </a:r>
            <a:r>
              <a:rPr lang="en-US" sz="2000" strike="noStrike" u="none">
                <a:solidFill>
                  <a:srgbClr val="474747"/>
                </a:solidFill>
                <a:latin typeface="Canva Sans"/>
                <a:ea typeface="Canva Sans"/>
                <a:cs typeface="Canva Sans"/>
                <a:sym typeface="Canva Sans"/>
              </a:rPr>
              <a:t>s and profit figures were che</a:t>
            </a:r>
            <a:r>
              <a:rPr lang="en-US" sz="2000" strike="noStrike" u="none">
                <a:solidFill>
                  <a:srgbClr val="474747"/>
                </a:solidFill>
                <a:latin typeface="Canva Sans"/>
                <a:ea typeface="Canva Sans"/>
                <a:cs typeface="Canva Sans"/>
                <a:sym typeface="Canva Sans"/>
              </a:rPr>
              <a:t>ck</a:t>
            </a:r>
            <a:r>
              <a:rPr lang="en-US" sz="2000" strike="noStrike" u="none">
                <a:solidFill>
                  <a:srgbClr val="474747"/>
                </a:solidFill>
                <a:latin typeface="Canva Sans"/>
                <a:ea typeface="Canva Sans"/>
                <a:cs typeface="Canva Sans"/>
                <a:sym typeface="Canva Sans"/>
              </a:rPr>
              <a:t>ed to iden</a:t>
            </a:r>
            <a:r>
              <a:rPr lang="en-US" sz="2000" strike="noStrike" u="none">
                <a:solidFill>
                  <a:srgbClr val="474747"/>
                </a:solidFill>
                <a:latin typeface="Canva Sans"/>
                <a:ea typeface="Canva Sans"/>
                <a:cs typeface="Canva Sans"/>
                <a:sym typeface="Canva Sans"/>
              </a:rPr>
              <a:t>ti</a:t>
            </a:r>
            <a:r>
              <a:rPr lang="en-US" sz="2000" strike="noStrike" u="none">
                <a:solidFill>
                  <a:srgbClr val="474747"/>
                </a:solidFill>
                <a:latin typeface="Canva Sans"/>
                <a:ea typeface="Canva Sans"/>
                <a:cs typeface="Canva Sans"/>
                <a:sym typeface="Canva Sans"/>
              </a:rPr>
              <a:t>f</a:t>
            </a:r>
            <a:r>
              <a:rPr lang="en-US" sz="2000" strike="noStrike" u="none">
                <a:solidFill>
                  <a:srgbClr val="474747"/>
                </a:solidFill>
                <a:latin typeface="Canva Sans"/>
                <a:ea typeface="Canva Sans"/>
                <a:cs typeface="Canva Sans"/>
                <a:sym typeface="Canva Sans"/>
              </a:rPr>
              <a:t>y</a:t>
            </a:r>
            <a:r>
              <a:rPr lang="en-US" sz="2000" strike="noStrike" u="none">
                <a:solidFill>
                  <a:srgbClr val="474747"/>
                </a:solidFill>
                <a:latin typeface="Canva Sans"/>
                <a:ea typeface="Canva Sans"/>
                <a:cs typeface="Canva Sans"/>
                <a:sym typeface="Canva Sans"/>
              </a:rPr>
              <a:t> pot</a:t>
            </a:r>
            <a:r>
              <a:rPr lang="en-US" sz="2000" strike="noStrike" u="none">
                <a:solidFill>
                  <a:srgbClr val="474747"/>
                </a:solidFill>
                <a:latin typeface="Canva Sans"/>
                <a:ea typeface="Canva Sans"/>
                <a:cs typeface="Canva Sans"/>
                <a:sym typeface="Canva Sans"/>
              </a:rPr>
              <a:t>en</a:t>
            </a:r>
            <a:r>
              <a:rPr lang="en-US" sz="2000" strike="noStrike" u="none">
                <a:solidFill>
                  <a:srgbClr val="474747"/>
                </a:solidFill>
                <a:latin typeface="Canva Sans"/>
                <a:ea typeface="Canva Sans"/>
                <a:cs typeface="Canva Sans"/>
                <a:sym typeface="Canva Sans"/>
              </a:rPr>
              <a:t>tial an</a:t>
            </a:r>
            <a:r>
              <a:rPr lang="en-US" sz="2000" strike="noStrike" u="none">
                <a:solidFill>
                  <a:srgbClr val="474747"/>
                </a:solidFill>
                <a:latin typeface="Canva Sans"/>
                <a:ea typeface="Canva Sans"/>
                <a:cs typeface="Canva Sans"/>
                <a:sym typeface="Canva Sans"/>
              </a:rPr>
              <a:t>omalie</a:t>
            </a:r>
            <a:r>
              <a:rPr lang="en-US" sz="2000" strike="noStrike" u="none">
                <a:solidFill>
                  <a:srgbClr val="474747"/>
                </a:solidFill>
                <a:latin typeface="Canva Sans"/>
                <a:ea typeface="Canva Sans"/>
                <a:cs typeface="Canva Sans"/>
                <a:sym typeface="Canva Sans"/>
              </a:rPr>
              <a:t>s or inconsiste</a:t>
            </a:r>
            <a:r>
              <a:rPr lang="en-US" sz="2000" strike="noStrike" u="none">
                <a:solidFill>
                  <a:srgbClr val="474747"/>
                </a:solidFill>
                <a:latin typeface="Canva Sans"/>
                <a:ea typeface="Canva Sans"/>
                <a:cs typeface="Canva Sans"/>
                <a:sym typeface="Canva Sans"/>
              </a:rPr>
              <a:t>n</a:t>
            </a:r>
            <a:r>
              <a:rPr lang="en-US" sz="2000" strike="noStrike" u="none">
                <a:solidFill>
                  <a:srgbClr val="474747"/>
                </a:solidFill>
                <a:latin typeface="Canva Sans"/>
                <a:ea typeface="Canva Sans"/>
                <a:cs typeface="Canva Sans"/>
                <a:sym typeface="Canva Sans"/>
              </a:rPr>
              <a:t>cies that coul</a:t>
            </a:r>
            <a:r>
              <a:rPr lang="en-US" sz="2000" strike="noStrike" u="none">
                <a:solidFill>
                  <a:srgbClr val="474747"/>
                </a:solidFill>
                <a:latin typeface="Canva Sans"/>
                <a:ea typeface="Canva Sans"/>
                <a:cs typeface="Canva Sans"/>
                <a:sym typeface="Canva Sans"/>
              </a:rPr>
              <a:t>d d</a:t>
            </a:r>
            <a:r>
              <a:rPr lang="en-US" sz="2000" strike="noStrike" u="none">
                <a:solidFill>
                  <a:srgbClr val="474747"/>
                </a:solidFill>
                <a:latin typeface="Canva Sans"/>
                <a:ea typeface="Canva Sans"/>
                <a:cs typeface="Canva Sans"/>
                <a:sym typeface="Canva Sans"/>
              </a:rPr>
              <a:t>i</a:t>
            </a:r>
            <a:r>
              <a:rPr lang="en-US" sz="2000" strike="noStrike" u="none">
                <a:solidFill>
                  <a:srgbClr val="474747"/>
                </a:solidFill>
                <a:latin typeface="Canva Sans"/>
                <a:ea typeface="Canva Sans"/>
                <a:cs typeface="Canva Sans"/>
                <a:sym typeface="Canva Sans"/>
              </a:rPr>
              <a:t>s</a:t>
            </a:r>
            <a:r>
              <a:rPr lang="en-US" sz="2000" strike="noStrike" u="none">
                <a:solidFill>
                  <a:srgbClr val="474747"/>
                </a:solidFill>
                <a:latin typeface="Canva Sans"/>
                <a:ea typeface="Canva Sans"/>
                <a:cs typeface="Canva Sans"/>
                <a:sym typeface="Canva Sans"/>
              </a:rPr>
              <a:t>tort the analysis results.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964950" y="4380637"/>
            <a:ext cx="320903" cy="320903"/>
            <a:chOff x="0" y="0"/>
            <a:chExt cx="84518" cy="84518"/>
          </a:xfrm>
        </p:grpSpPr>
        <p:sp>
          <p:nvSpPr>
            <p:cNvPr name="Freeform 3" id="3"/>
            <p:cNvSpPr/>
            <p:nvPr/>
          </p:nvSpPr>
          <p:spPr>
            <a:xfrm flipH="false" flipV="false" rot="0">
              <a:off x="0" y="0"/>
              <a:ext cx="84518" cy="84518"/>
            </a:xfrm>
            <a:custGeom>
              <a:avLst/>
              <a:gdLst/>
              <a:ahLst/>
              <a:cxnLst/>
              <a:rect r="r" b="b" t="t" l="l"/>
              <a:pathLst>
                <a:path h="84518" w="84518">
                  <a:moveTo>
                    <a:pt x="0" y="0"/>
                  </a:moveTo>
                  <a:lnTo>
                    <a:pt x="84518" y="0"/>
                  </a:lnTo>
                  <a:lnTo>
                    <a:pt x="84518" y="84518"/>
                  </a:lnTo>
                  <a:lnTo>
                    <a:pt x="0" y="84518"/>
                  </a:lnTo>
                  <a:close/>
                </a:path>
              </a:pathLst>
            </a:custGeom>
            <a:solidFill>
              <a:srgbClr val="FFDE59"/>
            </a:solidFill>
          </p:spPr>
        </p:sp>
        <p:sp>
          <p:nvSpPr>
            <p:cNvPr name="TextBox 4" id="4"/>
            <p:cNvSpPr txBox="true"/>
            <p:nvPr/>
          </p:nvSpPr>
          <p:spPr>
            <a:xfrm>
              <a:off x="0" y="-38100"/>
              <a:ext cx="84518" cy="122618"/>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2964950" y="6169341"/>
            <a:ext cx="320903" cy="320903"/>
            <a:chOff x="0" y="0"/>
            <a:chExt cx="84518" cy="84518"/>
          </a:xfrm>
        </p:grpSpPr>
        <p:sp>
          <p:nvSpPr>
            <p:cNvPr name="Freeform 6" id="6"/>
            <p:cNvSpPr/>
            <p:nvPr/>
          </p:nvSpPr>
          <p:spPr>
            <a:xfrm flipH="false" flipV="false" rot="0">
              <a:off x="0" y="0"/>
              <a:ext cx="84518" cy="84518"/>
            </a:xfrm>
            <a:custGeom>
              <a:avLst/>
              <a:gdLst/>
              <a:ahLst/>
              <a:cxnLst/>
              <a:rect r="r" b="b" t="t" l="l"/>
              <a:pathLst>
                <a:path h="84518" w="84518">
                  <a:moveTo>
                    <a:pt x="0" y="0"/>
                  </a:moveTo>
                  <a:lnTo>
                    <a:pt x="84518" y="0"/>
                  </a:lnTo>
                  <a:lnTo>
                    <a:pt x="84518" y="84518"/>
                  </a:lnTo>
                  <a:lnTo>
                    <a:pt x="0" y="84518"/>
                  </a:lnTo>
                  <a:close/>
                </a:path>
              </a:pathLst>
            </a:custGeom>
            <a:solidFill>
              <a:srgbClr val="FFDE59"/>
            </a:solidFill>
          </p:spPr>
        </p:sp>
        <p:sp>
          <p:nvSpPr>
            <p:cNvPr name="TextBox 7" id="7"/>
            <p:cNvSpPr txBox="true"/>
            <p:nvPr/>
          </p:nvSpPr>
          <p:spPr>
            <a:xfrm>
              <a:off x="0" y="-38100"/>
              <a:ext cx="84518" cy="122618"/>
            </a:xfrm>
            <a:prstGeom prst="rect">
              <a:avLst/>
            </a:prstGeom>
          </p:spPr>
          <p:txBody>
            <a:bodyPr anchor="ctr" rtlCol="false" tIns="50800" lIns="50800" bIns="50800" rIns="50800"/>
            <a:lstStyle/>
            <a:p>
              <a:pPr algn="ctr">
                <a:lnSpc>
                  <a:spcPts val="2940"/>
                </a:lnSpc>
              </a:pPr>
            </a:p>
          </p:txBody>
        </p:sp>
      </p:grpSp>
      <p:grpSp>
        <p:nvGrpSpPr>
          <p:cNvPr name="Group 8" id="8"/>
          <p:cNvGrpSpPr/>
          <p:nvPr/>
        </p:nvGrpSpPr>
        <p:grpSpPr>
          <a:xfrm rot="0">
            <a:off x="2964950" y="7936385"/>
            <a:ext cx="320903" cy="320903"/>
            <a:chOff x="0" y="0"/>
            <a:chExt cx="84518" cy="84518"/>
          </a:xfrm>
        </p:grpSpPr>
        <p:sp>
          <p:nvSpPr>
            <p:cNvPr name="Freeform 9" id="9"/>
            <p:cNvSpPr/>
            <p:nvPr/>
          </p:nvSpPr>
          <p:spPr>
            <a:xfrm flipH="false" flipV="false" rot="0">
              <a:off x="0" y="0"/>
              <a:ext cx="84518" cy="84518"/>
            </a:xfrm>
            <a:custGeom>
              <a:avLst/>
              <a:gdLst/>
              <a:ahLst/>
              <a:cxnLst/>
              <a:rect r="r" b="b" t="t" l="l"/>
              <a:pathLst>
                <a:path h="84518" w="84518">
                  <a:moveTo>
                    <a:pt x="0" y="0"/>
                  </a:moveTo>
                  <a:lnTo>
                    <a:pt x="84518" y="0"/>
                  </a:lnTo>
                  <a:lnTo>
                    <a:pt x="84518" y="84518"/>
                  </a:lnTo>
                  <a:lnTo>
                    <a:pt x="0" y="84518"/>
                  </a:lnTo>
                  <a:close/>
                </a:path>
              </a:pathLst>
            </a:custGeom>
            <a:solidFill>
              <a:srgbClr val="FFDE59"/>
            </a:solidFill>
          </p:spPr>
        </p:sp>
        <p:sp>
          <p:nvSpPr>
            <p:cNvPr name="TextBox 10" id="10"/>
            <p:cNvSpPr txBox="true"/>
            <p:nvPr/>
          </p:nvSpPr>
          <p:spPr>
            <a:xfrm>
              <a:off x="0" y="-38100"/>
              <a:ext cx="84518" cy="122618"/>
            </a:xfrm>
            <a:prstGeom prst="rect">
              <a:avLst/>
            </a:prstGeom>
          </p:spPr>
          <p:txBody>
            <a:bodyPr anchor="ctr" rtlCol="false" tIns="50800" lIns="50800" bIns="50800" rIns="50800"/>
            <a:lstStyle/>
            <a:p>
              <a:pPr algn="ctr">
                <a:lnSpc>
                  <a:spcPts val="2940"/>
                </a:lnSpc>
              </a:pPr>
            </a:p>
          </p:txBody>
        </p:sp>
      </p:grpSp>
      <p:sp>
        <p:nvSpPr>
          <p:cNvPr name="TextBox 11" id="11"/>
          <p:cNvSpPr txBox="true"/>
          <p:nvPr/>
        </p:nvSpPr>
        <p:spPr>
          <a:xfrm rot="0">
            <a:off x="5102964" y="1970812"/>
            <a:ext cx="8082073" cy="1533525"/>
          </a:xfrm>
          <a:prstGeom prst="rect">
            <a:avLst/>
          </a:prstGeom>
        </p:spPr>
        <p:txBody>
          <a:bodyPr anchor="t" rtlCol="false" tIns="0" lIns="0" bIns="0" rIns="0">
            <a:spAutoFit/>
          </a:bodyPr>
          <a:lstStyle/>
          <a:p>
            <a:pPr algn="l">
              <a:lnSpc>
                <a:spcPts val="12599"/>
              </a:lnSpc>
              <a:spcBef>
                <a:spcPct val="0"/>
              </a:spcBef>
            </a:pPr>
            <a:r>
              <a:rPr lang="en-US" sz="9000" b="true">
                <a:solidFill>
                  <a:srgbClr val="000000"/>
                </a:solidFill>
                <a:latin typeface="Inter Bold"/>
                <a:ea typeface="Inter Bold"/>
                <a:cs typeface="Inter Bold"/>
                <a:sym typeface="Inter Bold"/>
              </a:rPr>
              <a:t>Methodology</a:t>
            </a:r>
          </a:p>
        </p:txBody>
      </p:sp>
      <p:sp>
        <p:nvSpPr>
          <p:cNvPr name="TextBox 12" id="12"/>
          <p:cNvSpPr txBox="true"/>
          <p:nvPr/>
        </p:nvSpPr>
        <p:spPr>
          <a:xfrm rot="0">
            <a:off x="3853161" y="4333012"/>
            <a:ext cx="10595549" cy="931545"/>
          </a:xfrm>
          <a:prstGeom prst="rect">
            <a:avLst/>
          </a:prstGeom>
        </p:spPr>
        <p:txBody>
          <a:bodyPr anchor="t" rtlCol="false" tIns="0" lIns="0" bIns="0" rIns="0">
            <a:spAutoFit/>
          </a:bodyPr>
          <a:lstStyle/>
          <a:p>
            <a:pPr algn="l">
              <a:lnSpc>
                <a:spcPts val="3780"/>
              </a:lnSpc>
              <a:spcBef>
                <a:spcPct val="0"/>
              </a:spcBef>
            </a:pPr>
            <a:r>
              <a:rPr lang="en-US" sz="2700" b="true">
                <a:solidFill>
                  <a:srgbClr val="000000"/>
                </a:solidFill>
                <a:latin typeface="Inter Medium"/>
                <a:ea typeface="Inter Medium"/>
                <a:cs typeface="Inter Medium"/>
                <a:sym typeface="Inter Medium"/>
              </a:rPr>
              <a:t>Data aggregation was performed using Pivot Tables to summarize sales and profit by category</a:t>
            </a:r>
          </a:p>
        </p:txBody>
      </p:sp>
      <p:sp>
        <p:nvSpPr>
          <p:cNvPr name="TextBox 13" id="13"/>
          <p:cNvSpPr txBox="true"/>
          <p:nvPr/>
        </p:nvSpPr>
        <p:spPr>
          <a:xfrm rot="0">
            <a:off x="3853161" y="6121716"/>
            <a:ext cx="9906065" cy="931545"/>
          </a:xfrm>
          <a:prstGeom prst="rect">
            <a:avLst/>
          </a:prstGeom>
        </p:spPr>
        <p:txBody>
          <a:bodyPr anchor="t" rtlCol="false" tIns="0" lIns="0" bIns="0" rIns="0">
            <a:spAutoFit/>
          </a:bodyPr>
          <a:lstStyle/>
          <a:p>
            <a:pPr algn="l">
              <a:lnSpc>
                <a:spcPts val="3780"/>
              </a:lnSpc>
              <a:spcBef>
                <a:spcPct val="0"/>
              </a:spcBef>
            </a:pPr>
            <a:r>
              <a:rPr lang="en-US" sz="2700" b="true">
                <a:solidFill>
                  <a:srgbClr val="000000"/>
                </a:solidFill>
                <a:latin typeface="Inter Medium"/>
                <a:ea typeface="Inter Medium"/>
                <a:cs typeface="Inter Medium"/>
                <a:sym typeface="Inter Medium"/>
              </a:rPr>
              <a:t>Total sales and profit were calculated to compare category performance</a:t>
            </a:r>
          </a:p>
        </p:txBody>
      </p:sp>
      <p:sp>
        <p:nvSpPr>
          <p:cNvPr name="TextBox 14" id="14"/>
          <p:cNvSpPr txBox="true"/>
          <p:nvPr/>
        </p:nvSpPr>
        <p:spPr>
          <a:xfrm rot="0">
            <a:off x="3853161" y="7801993"/>
            <a:ext cx="9906065" cy="931545"/>
          </a:xfrm>
          <a:prstGeom prst="rect">
            <a:avLst/>
          </a:prstGeom>
        </p:spPr>
        <p:txBody>
          <a:bodyPr anchor="t" rtlCol="false" tIns="0" lIns="0" bIns="0" rIns="0">
            <a:spAutoFit/>
          </a:bodyPr>
          <a:lstStyle/>
          <a:p>
            <a:pPr algn="l">
              <a:lnSpc>
                <a:spcPts val="3780"/>
              </a:lnSpc>
              <a:spcBef>
                <a:spcPct val="0"/>
              </a:spcBef>
            </a:pPr>
            <a:r>
              <a:rPr lang="en-US" sz="2700" b="true">
                <a:solidFill>
                  <a:srgbClr val="000000"/>
                </a:solidFill>
                <a:latin typeface="Inter Medium"/>
                <a:ea typeface="Inter Medium"/>
                <a:cs typeface="Inter Medium"/>
                <a:sym typeface="Inter Medium"/>
              </a:rPr>
              <a:t>Bar charts were used to clearly visualize differences across categories</a:t>
            </a:r>
          </a:p>
        </p:txBody>
      </p:sp>
      <p:grpSp>
        <p:nvGrpSpPr>
          <p:cNvPr name="Group 15" id="15"/>
          <p:cNvGrpSpPr/>
          <p:nvPr/>
        </p:nvGrpSpPr>
        <p:grpSpPr>
          <a:xfrm rot="0">
            <a:off x="-2799046" y="-3314429"/>
            <a:ext cx="4572239" cy="5079701"/>
            <a:chOff x="0" y="0"/>
            <a:chExt cx="1204211" cy="1337864"/>
          </a:xfrm>
        </p:grpSpPr>
        <p:sp>
          <p:nvSpPr>
            <p:cNvPr name="Freeform 16" id="16"/>
            <p:cNvSpPr/>
            <p:nvPr/>
          </p:nvSpPr>
          <p:spPr>
            <a:xfrm flipH="false" flipV="false" rot="0">
              <a:off x="0" y="0"/>
              <a:ext cx="1204211" cy="1337864"/>
            </a:xfrm>
            <a:custGeom>
              <a:avLst/>
              <a:gdLst/>
              <a:ahLst/>
              <a:cxnLst/>
              <a:rect r="r" b="b" t="t" l="l"/>
              <a:pathLst>
                <a:path h="1337864" w="1204211">
                  <a:moveTo>
                    <a:pt x="0" y="0"/>
                  </a:moveTo>
                  <a:lnTo>
                    <a:pt x="1204211" y="0"/>
                  </a:lnTo>
                  <a:lnTo>
                    <a:pt x="1204211" y="1337864"/>
                  </a:lnTo>
                  <a:lnTo>
                    <a:pt x="0" y="1337864"/>
                  </a:lnTo>
                  <a:close/>
                </a:path>
              </a:pathLst>
            </a:custGeom>
            <a:solidFill>
              <a:srgbClr val="000000"/>
            </a:solidFill>
          </p:spPr>
        </p:sp>
        <p:sp>
          <p:nvSpPr>
            <p:cNvPr name="TextBox 17" id="17"/>
            <p:cNvSpPr txBox="true"/>
            <p:nvPr/>
          </p:nvSpPr>
          <p:spPr>
            <a:xfrm>
              <a:off x="0" y="-38100"/>
              <a:ext cx="1204211" cy="1375964"/>
            </a:xfrm>
            <a:prstGeom prst="rect">
              <a:avLst/>
            </a:prstGeom>
          </p:spPr>
          <p:txBody>
            <a:bodyPr anchor="ctr" rtlCol="false" tIns="50800" lIns="50800" bIns="50800" rIns="50800"/>
            <a:lstStyle/>
            <a:p>
              <a:pPr algn="ctr">
                <a:lnSpc>
                  <a:spcPts val="2940"/>
                </a:lnSpc>
              </a:pPr>
            </a:p>
          </p:txBody>
        </p:sp>
      </p:grpSp>
      <p:grpSp>
        <p:nvGrpSpPr>
          <p:cNvPr name="Group 18" id="18"/>
          <p:cNvGrpSpPr/>
          <p:nvPr/>
        </p:nvGrpSpPr>
        <p:grpSpPr>
          <a:xfrm rot="0">
            <a:off x="17055374" y="6329793"/>
            <a:ext cx="4572239" cy="5079701"/>
            <a:chOff x="0" y="0"/>
            <a:chExt cx="1204211" cy="1337864"/>
          </a:xfrm>
        </p:grpSpPr>
        <p:sp>
          <p:nvSpPr>
            <p:cNvPr name="Freeform 19" id="19"/>
            <p:cNvSpPr/>
            <p:nvPr/>
          </p:nvSpPr>
          <p:spPr>
            <a:xfrm flipH="false" flipV="false" rot="0">
              <a:off x="0" y="0"/>
              <a:ext cx="1204211" cy="1337864"/>
            </a:xfrm>
            <a:custGeom>
              <a:avLst/>
              <a:gdLst/>
              <a:ahLst/>
              <a:cxnLst/>
              <a:rect r="r" b="b" t="t" l="l"/>
              <a:pathLst>
                <a:path h="1337864" w="1204211">
                  <a:moveTo>
                    <a:pt x="0" y="0"/>
                  </a:moveTo>
                  <a:lnTo>
                    <a:pt x="1204211" y="0"/>
                  </a:lnTo>
                  <a:lnTo>
                    <a:pt x="1204211" y="1337864"/>
                  </a:lnTo>
                  <a:lnTo>
                    <a:pt x="0" y="1337864"/>
                  </a:lnTo>
                  <a:close/>
                </a:path>
              </a:pathLst>
            </a:custGeom>
            <a:solidFill>
              <a:srgbClr val="FFDE59"/>
            </a:solidFill>
          </p:spPr>
        </p:sp>
        <p:sp>
          <p:nvSpPr>
            <p:cNvPr name="TextBox 20" id="20"/>
            <p:cNvSpPr txBox="true"/>
            <p:nvPr/>
          </p:nvSpPr>
          <p:spPr>
            <a:xfrm>
              <a:off x="0" y="-38100"/>
              <a:ext cx="1204211" cy="1375964"/>
            </a:xfrm>
            <a:prstGeom prst="rect">
              <a:avLst/>
            </a:prstGeom>
          </p:spPr>
          <p:txBody>
            <a:bodyPr anchor="ctr" rtlCol="false" tIns="50800" lIns="50800" bIns="50800" rIns="50800"/>
            <a:lstStyle/>
            <a:p>
              <a:pPr algn="ctr">
                <a:lnSpc>
                  <a:spcPts val="2940"/>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47235" y="-2752596"/>
            <a:ext cx="3086100" cy="6112748"/>
            <a:chOff x="0" y="0"/>
            <a:chExt cx="812800" cy="1609942"/>
          </a:xfrm>
        </p:grpSpPr>
        <p:sp>
          <p:nvSpPr>
            <p:cNvPr name="Freeform 3" id="3"/>
            <p:cNvSpPr/>
            <p:nvPr/>
          </p:nvSpPr>
          <p:spPr>
            <a:xfrm flipH="false" flipV="false" rot="0">
              <a:off x="0" y="0"/>
              <a:ext cx="812800" cy="1609942"/>
            </a:xfrm>
            <a:custGeom>
              <a:avLst/>
              <a:gdLst/>
              <a:ahLst/>
              <a:cxnLst/>
              <a:rect r="r" b="b" t="t" l="l"/>
              <a:pathLst>
                <a:path h="1609942" w="812800">
                  <a:moveTo>
                    <a:pt x="0" y="0"/>
                  </a:moveTo>
                  <a:lnTo>
                    <a:pt x="812800" y="0"/>
                  </a:lnTo>
                  <a:lnTo>
                    <a:pt x="812800" y="1609942"/>
                  </a:lnTo>
                  <a:lnTo>
                    <a:pt x="0" y="1609942"/>
                  </a:lnTo>
                  <a:close/>
                </a:path>
              </a:pathLst>
            </a:custGeom>
            <a:solidFill>
              <a:srgbClr val="FFDE59"/>
            </a:solidFill>
          </p:spPr>
        </p:sp>
        <p:sp>
          <p:nvSpPr>
            <p:cNvPr name="TextBox 4" id="4"/>
            <p:cNvSpPr txBox="true"/>
            <p:nvPr/>
          </p:nvSpPr>
          <p:spPr>
            <a:xfrm>
              <a:off x="0" y="-38100"/>
              <a:ext cx="812800" cy="1648042"/>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17571928" y="6272978"/>
            <a:ext cx="3086100" cy="6112748"/>
            <a:chOff x="0" y="0"/>
            <a:chExt cx="812800" cy="1609942"/>
          </a:xfrm>
        </p:grpSpPr>
        <p:sp>
          <p:nvSpPr>
            <p:cNvPr name="Freeform 6" id="6"/>
            <p:cNvSpPr/>
            <p:nvPr/>
          </p:nvSpPr>
          <p:spPr>
            <a:xfrm flipH="false" flipV="false" rot="0">
              <a:off x="0" y="0"/>
              <a:ext cx="812800" cy="1609942"/>
            </a:xfrm>
            <a:custGeom>
              <a:avLst/>
              <a:gdLst/>
              <a:ahLst/>
              <a:cxnLst/>
              <a:rect r="r" b="b" t="t" l="l"/>
              <a:pathLst>
                <a:path h="1609942" w="812800">
                  <a:moveTo>
                    <a:pt x="0" y="0"/>
                  </a:moveTo>
                  <a:lnTo>
                    <a:pt x="812800" y="0"/>
                  </a:lnTo>
                  <a:lnTo>
                    <a:pt x="812800" y="1609942"/>
                  </a:lnTo>
                  <a:lnTo>
                    <a:pt x="0" y="1609942"/>
                  </a:lnTo>
                  <a:close/>
                </a:path>
              </a:pathLst>
            </a:custGeom>
            <a:solidFill>
              <a:srgbClr val="000000"/>
            </a:solidFill>
          </p:spPr>
        </p:sp>
        <p:sp>
          <p:nvSpPr>
            <p:cNvPr name="TextBox 7" id="7"/>
            <p:cNvSpPr txBox="true"/>
            <p:nvPr/>
          </p:nvSpPr>
          <p:spPr>
            <a:xfrm>
              <a:off x="0" y="-38100"/>
              <a:ext cx="812800" cy="1648042"/>
            </a:xfrm>
            <a:prstGeom prst="rect">
              <a:avLst/>
            </a:prstGeom>
          </p:spPr>
          <p:txBody>
            <a:bodyPr anchor="ctr" rtlCol="false" tIns="50800" lIns="50800" bIns="50800" rIns="50800"/>
            <a:lstStyle/>
            <a:p>
              <a:pPr algn="ctr">
                <a:lnSpc>
                  <a:spcPts val="2940"/>
                </a:lnSpc>
              </a:pPr>
            </a:p>
          </p:txBody>
        </p:sp>
      </p:grpSp>
      <p:sp>
        <p:nvSpPr>
          <p:cNvPr name="Freeform 8" id="8"/>
          <p:cNvSpPr/>
          <p:nvPr/>
        </p:nvSpPr>
        <p:spPr>
          <a:xfrm flipH="false" flipV="false" rot="0">
            <a:off x="1584250" y="3922127"/>
            <a:ext cx="9001931" cy="5206596"/>
          </a:xfrm>
          <a:custGeom>
            <a:avLst/>
            <a:gdLst/>
            <a:ahLst/>
            <a:cxnLst/>
            <a:rect r="r" b="b" t="t" l="l"/>
            <a:pathLst>
              <a:path h="5206596" w="9001931">
                <a:moveTo>
                  <a:pt x="0" y="0"/>
                </a:moveTo>
                <a:lnTo>
                  <a:pt x="9001930" y="0"/>
                </a:lnTo>
                <a:lnTo>
                  <a:pt x="9001930" y="5206596"/>
                </a:lnTo>
                <a:lnTo>
                  <a:pt x="0" y="5206596"/>
                </a:lnTo>
                <a:lnTo>
                  <a:pt x="0" y="0"/>
                </a:lnTo>
                <a:close/>
              </a:path>
            </a:pathLst>
          </a:custGeom>
          <a:blipFill>
            <a:blip r:embed="rId2"/>
            <a:stretch>
              <a:fillRect l="0" t="0" r="0" b="0"/>
            </a:stretch>
          </a:blipFill>
        </p:spPr>
      </p:sp>
      <p:sp>
        <p:nvSpPr>
          <p:cNvPr name="TextBox 9" id="9"/>
          <p:cNvSpPr txBox="true"/>
          <p:nvPr/>
        </p:nvSpPr>
        <p:spPr>
          <a:xfrm rot="0">
            <a:off x="3585387" y="876300"/>
            <a:ext cx="11117225" cy="1430380"/>
          </a:xfrm>
          <a:prstGeom prst="rect">
            <a:avLst/>
          </a:prstGeom>
        </p:spPr>
        <p:txBody>
          <a:bodyPr anchor="t" rtlCol="false" tIns="0" lIns="0" bIns="0" rIns="0">
            <a:spAutoFit/>
          </a:bodyPr>
          <a:lstStyle/>
          <a:p>
            <a:pPr algn="ctr">
              <a:lnSpc>
                <a:spcPts val="11739"/>
              </a:lnSpc>
              <a:spcBef>
                <a:spcPct val="0"/>
              </a:spcBef>
            </a:pPr>
            <a:r>
              <a:rPr lang="en-US" b="true" sz="8385">
                <a:solidFill>
                  <a:srgbClr val="000000"/>
                </a:solidFill>
                <a:latin typeface="Inter Bold"/>
                <a:ea typeface="Inter Bold"/>
                <a:cs typeface="Inter Bold"/>
                <a:sym typeface="Inter Bold"/>
              </a:rPr>
              <a:t>Profit Analysis Result</a:t>
            </a:r>
          </a:p>
        </p:txBody>
      </p:sp>
      <p:sp>
        <p:nvSpPr>
          <p:cNvPr name="TextBox 10" id="10"/>
          <p:cNvSpPr txBox="true"/>
          <p:nvPr/>
        </p:nvSpPr>
        <p:spPr>
          <a:xfrm rot="0">
            <a:off x="1513477" y="2538677"/>
            <a:ext cx="12554755" cy="888150"/>
          </a:xfrm>
          <a:prstGeom prst="rect">
            <a:avLst/>
          </a:prstGeom>
        </p:spPr>
        <p:txBody>
          <a:bodyPr anchor="t" rtlCol="false" tIns="0" lIns="0" bIns="0" rIns="0">
            <a:spAutoFit/>
          </a:bodyPr>
          <a:lstStyle/>
          <a:p>
            <a:pPr algn="l">
              <a:lnSpc>
                <a:spcPts val="7202"/>
              </a:lnSpc>
              <a:spcBef>
                <a:spcPct val="0"/>
              </a:spcBef>
            </a:pPr>
            <a:r>
              <a:rPr lang="en-US" sz="5144">
                <a:solidFill>
                  <a:srgbClr val="000000"/>
                </a:solidFill>
                <a:latin typeface="Inter"/>
                <a:ea typeface="Inter"/>
                <a:cs typeface="Inter"/>
                <a:sym typeface="Inter"/>
              </a:rPr>
              <a:t>Sales Analysis by Product Category</a:t>
            </a:r>
          </a:p>
        </p:txBody>
      </p:sp>
      <p:sp>
        <p:nvSpPr>
          <p:cNvPr name="TextBox 11" id="11"/>
          <p:cNvSpPr txBox="true"/>
          <p:nvPr/>
        </p:nvSpPr>
        <p:spPr>
          <a:xfrm rot="0">
            <a:off x="11221734" y="3864977"/>
            <a:ext cx="5252854" cy="4939030"/>
          </a:xfrm>
          <a:prstGeom prst="rect">
            <a:avLst/>
          </a:prstGeom>
        </p:spPr>
        <p:txBody>
          <a:bodyPr anchor="t" rtlCol="false" tIns="0" lIns="0" bIns="0" rIns="0">
            <a:spAutoFit/>
          </a:bodyPr>
          <a:lstStyle/>
          <a:p>
            <a:pPr algn="l">
              <a:lnSpc>
                <a:spcPts val="3919"/>
              </a:lnSpc>
              <a:spcBef>
                <a:spcPct val="0"/>
              </a:spcBef>
            </a:pPr>
            <a:r>
              <a:rPr lang="en-US" sz="2799">
                <a:solidFill>
                  <a:srgbClr val="000000"/>
                </a:solidFill>
                <a:latin typeface="Inter"/>
                <a:ea typeface="Inter"/>
                <a:cs typeface="Inter"/>
                <a:sym typeface="Inter"/>
              </a:rPr>
              <a:t>Based on the Pivot Table analysis, the Technology category records the highest total sales compared to Furniture and Office Supplies.This indicates that technology products are the primary contributors to overall sales and may represent a key focus for business strategy.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47235" y="-2752596"/>
            <a:ext cx="3086100" cy="6112748"/>
            <a:chOff x="0" y="0"/>
            <a:chExt cx="812800" cy="1609942"/>
          </a:xfrm>
        </p:grpSpPr>
        <p:sp>
          <p:nvSpPr>
            <p:cNvPr name="Freeform 3" id="3"/>
            <p:cNvSpPr/>
            <p:nvPr/>
          </p:nvSpPr>
          <p:spPr>
            <a:xfrm flipH="false" flipV="false" rot="0">
              <a:off x="0" y="0"/>
              <a:ext cx="812800" cy="1609942"/>
            </a:xfrm>
            <a:custGeom>
              <a:avLst/>
              <a:gdLst/>
              <a:ahLst/>
              <a:cxnLst/>
              <a:rect r="r" b="b" t="t" l="l"/>
              <a:pathLst>
                <a:path h="1609942" w="812800">
                  <a:moveTo>
                    <a:pt x="0" y="0"/>
                  </a:moveTo>
                  <a:lnTo>
                    <a:pt x="812800" y="0"/>
                  </a:lnTo>
                  <a:lnTo>
                    <a:pt x="812800" y="1609942"/>
                  </a:lnTo>
                  <a:lnTo>
                    <a:pt x="0" y="1609942"/>
                  </a:lnTo>
                  <a:close/>
                </a:path>
              </a:pathLst>
            </a:custGeom>
            <a:solidFill>
              <a:srgbClr val="FFDE59"/>
            </a:solidFill>
          </p:spPr>
        </p:sp>
        <p:sp>
          <p:nvSpPr>
            <p:cNvPr name="TextBox 4" id="4"/>
            <p:cNvSpPr txBox="true"/>
            <p:nvPr/>
          </p:nvSpPr>
          <p:spPr>
            <a:xfrm>
              <a:off x="0" y="-38100"/>
              <a:ext cx="812800" cy="1648042"/>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17571928" y="6272978"/>
            <a:ext cx="3086100" cy="6112748"/>
            <a:chOff x="0" y="0"/>
            <a:chExt cx="812800" cy="1609942"/>
          </a:xfrm>
        </p:grpSpPr>
        <p:sp>
          <p:nvSpPr>
            <p:cNvPr name="Freeform 6" id="6"/>
            <p:cNvSpPr/>
            <p:nvPr/>
          </p:nvSpPr>
          <p:spPr>
            <a:xfrm flipH="false" flipV="false" rot="0">
              <a:off x="0" y="0"/>
              <a:ext cx="812800" cy="1609942"/>
            </a:xfrm>
            <a:custGeom>
              <a:avLst/>
              <a:gdLst/>
              <a:ahLst/>
              <a:cxnLst/>
              <a:rect r="r" b="b" t="t" l="l"/>
              <a:pathLst>
                <a:path h="1609942" w="812800">
                  <a:moveTo>
                    <a:pt x="0" y="0"/>
                  </a:moveTo>
                  <a:lnTo>
                    <a:pt x="812800" y="0"/>
                  </a:lnTo>
                  <a:lnTo>
                    <a:pt x="812800" y="1609942"/>
                  </a:lnTo>
                  <a:lnTo>
                    <a:pt x="0" y="1609942"/>
                  </a:lnTo>
                  <a:close/>
                </a:path>
              </a:pathLst>
            </a:custGeom>
            <a:solidFill>
              <a:srgbClr val="000000"/>
            </a:solidFill>
          </p:spPr>
        </p:sp>
        <p:sp>
          <p:nvSpPr>
            <p:cNvPr name="TextBox 7" id="7"/>
            <p:cNvSpPr txBox="true"/>
            <p:nvPr/>
          </p:nvSpPr>
          <p:spPr>
            <a:xfrm>
              <a:off x="0" y="-38100"/>
              <a:ext cx="812800" cy="1648042"/>
            </a:xfrm>
            <a:prstGeom prst="rect">
              <a:avLst/>
            </a:prstGeom>
          </p:spPr>
          <p:txBody>
            <a:bodyPr anchor="ctr" rtlCol="false" tIns="50800" lIns="50800" bIns="50800" rIns="50800"/>
            <a:lstStyle/>
            <a:p>
              <a:pPr algn="ctr">
                <a:lnSpc>
                  <a:spcPts val="2940"/>
                </a:lnSpc>
              </a:pPr>
            </a:p>
          </p:txBody>
        </p:sp>
      </p:grpSp>
      <p:sp>
        <p:nvSpPr>
          <p:cNvPr name="Freeform 8" id="8"/>
          <p:cNvSpPr/>
          <p:nvPr/>
        </p:nvSpPr>
        <p:spPr>
          <a:xfrm flipH="false" flipV="false" rot="0">
            <a:off x="7665669" y="3942142"/>
            <a:ext cx="9353302" cy="5218767"/>
          </a:xfrm>
          <a:custGeom>
            <a:avLst/>
            <a:gdLst/>
            <a:ahLst/>
            <a:cxnLst/>
            <a:rect r="r" b="b" t="t" l="l"/>
            <a:pathLst>
              <a:path h="5218767" w="9353302">
                <a:moveTo>
                  <a:pt x="0" y="0"/>
                </a:moveTo>
                <a:lnTo>
                  <a:pt x="9353302" y="0"/>
                </a:lnTo>
                <a:lnTo>
                  <a:pt x="9353302" y="5218767"/>
                </a:lnTo>
                <a:lnTo>
                  <a:pt x="0" y="5218767"/>
                </a:lnTo>
                <a:lnTo>
                  <a:pt x="0" y="0"/>
                </a:lnTo>
                <a:close/>
              </a:path>
            </a:pathLst>
          </a:custGeom>
          <a:blipFill>
            <a:blip r:embed="rId2"/>
            <a:stretch>
              <a:fillRect l="0" t="0" r="0" b="0"/>
            </a:stretch>
          </a:blipFill>
        </p:spPr>
      </p:sp>
      <p:sp>
        <p:nvSpPr>
          <p:cNvPr name="TextBox 9" id="9"/>
          <p:cNvSpPr txBox="true"/>
          <p:nvPr/>
        </p:nvSpPr>
        <p:spPr>
          <a:xfrm rot="0">
            <a:off x="3585387" y="876300"/>
            <a:ext cx="11117225" cy="1430380"/>
          </a:xfrm>
          <a:prstGeom prst="rect">
            <a:avLst/>
          </a:prstGeom>
        </p:spPr>
        <p:txBody>
          <a:bodyPr anchor="t" rtlCol="false" tIns="0" lIns="0" bIns="0" rIns="0">
            <a:spAutoFit/>
          </a:bodyPr>
          <a:lstStyle/>
          <a:p>
            <a:pPr algn="ctr">
              <a:lnSpc>
                <a:spcPts val="11739"/>
              </a:lnSpc>
              <a:spcBef>
                <a:spcPct val="0"/>
              </a:spcBef>
            </a:pPr>
            <a:r>
              <a:rPr lang="en-US" b="true" sz="8385">
                <a:solidFill>
                  <a:srgbClr val="000000"/>
                </a:solidFill>
                <a:latin typeface="Inter Bold"/>
                <a:ea typeface="Inter Bold"/>
                <a:cs typeface="Inter Bold"/>
                <a:sym typeface="Inter Bold"/>
              </a:rPr>
              <a:t>Profit Analysis Result</a:t>
            </a:r>
          </a:p>
        </p:txBody>
      </p:sp>
      <p:sp>
        <p:nvSpPr>
          <p:cNvPr name="TextBox 10" id="10"/>
          <p:cNvSpPr txBox="true"/>
          <p:nvPr/>
        </p:nvSpPr>
        <p:spPr>
          <a:xfrm rot="0">
            <a:off x="1570627" y="2538677"/>
            <a:ext cx="12554755" cy="888150"/>
          </a:xfrm>
          <a:prstGeom prst="rect">
            <a:avLst/>
          </a:prstGeom>
        </p:spPr>
        <p:txBody>
          <a:bodyPr anchor="t" rtlCol="false" tIns="0" lIns="0" bIns="0" rIns="0">
            <a:spAutoFit/>
          </a:bodyPr>
          <a:lstStyle/>
          <a:p>
            <a:pPr algn="l">
              <a:lnSpc>
                <a:spcPts val="7202"/>
              </a:lnSpc>
              <a:spcBef>
                <a:spcPct val="0"/>
              </a:spcBef>
            </a:pPr>
            <a:r>
              <a:rPr lang="en-US" sz="5144">
                <a:solidFill>
                  <a:srgbClr val="000000"/>
                </a:solidFill>
                <a:latin typeface="Inter"/>
                <a:ea typeface="Inter"/>
                <a:cs typeface="Inter"/>
                <a:sym typeface="Inter"/>
              </a:rPr>
              <a:t>Provit Analysis by Product Category</a:t>
            </a:r>
          </a:p>
        </p:txBody>
      </p:sp>
      <p:sp>
        <p:nvSpPr>
          <p:cNvPr name="TextBox 11" id="11"/>
          <p:cNvSpPr txBox="true"/>
          <p:nvPr/>
        </p:nvSpPr>
        <p:spPr>
          <a:xfrm rot="0">
            <a:off x="1570627" y="3884992"/>
            <a:ext cx="5252854" cy="3453130"/>
          </a:xfrm>
          <a:prstGeom prst="rect">
            <a:avLst/>
          </a:prstGeom>
        </p:spPr>
        <p:txBody>
          <a:bodyPr anchor="t" rtlCol="false" tIns="0" lIns="0" bIns="0" rIns="0">
            <a:spAutoFit/>
          </a:bodyPr>
          <a:lstStyle/>
          <a:p>
            <a:pPr algn="l">
              <a:lnSpc>
                <a:spcPts val="3919"/>
              </a:lnSpc>
            </a:pPr>
            <a:r>
              <a:rPr lang="en-US" sz="2799">
                <a:solidFill>
                  <a:srgbClr val="000000"/>
                </a:solidFill>
                <a:latin typeface="Inter"/>
                <a:ea typeface="Inter"/>
                <a:cs typeface="Inter"/>
                <a:sym typeface="Inter"/>
              </a:rPr>
              <a:t>The Technology category generates the highest total profit, followed by Office Supplies.</a:t>
            </a:r>
          </a:p>
          <a:p>
            <a:pPr algn="l">
              <a:lnSpc>
                <a:spcPts val="3919"/>
              </a:lnSpc>
              <a:spcBef>
                <a:spcPct val="0"/>
              </a:spcBef>
            </a:pPr>
            <a:r>
              <a:rPr lang="en-US" sz="2799">
                <a:solidFill>
                  <a:srgbClr val="000000"/>
                </a:solidFill>
                <a:latin typeface="Inter"/>
                <a:ea typeface="Inter"/>
                <a:cs typeface="Inter"/>
                <a:sym typeface="Inter"/>
              </a:rPr>
              <a:t> In contrast, Furniture records the lowest profit contribution among all categories.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999518" y="2660002"/>
            <a:ext cx="293226" cy="276635"/>
            <a:chOff x="0" y="0"/>
            <a:chExt cx="77228" cy="72858"/>
          </a:xfrm>
        </p:grpSpPr>
        <p:sp>
          <p:nvSpPr>
            <p:cNvPr name="Freeform 3" id="3"/>
            <p:cNvSpPr/>
            <p:nvPr/>
          </p:nvSpPr>
          <p:spPr>
            <a:xfrm flipH="false" flipV="false" rot="0">
              <a:off x="0" y="0"/>
              <a:ext cx="77228" cy="72858"/>
            </a:xfrm>
            <a:custGeom>
              <a:avLst/>
              <a:gdLst/>
              <a:ahLst/>
              <a:cxnLst/>
              <a:rect r="r" b="b" t="t" l="l"/>
              <a:pathLst>
                <a:path h="72858" w="77228">
                  <a:moveTo>
                    <a:pt x="0" y="0"/>
                  </a:moveTo>
                  <a:lnTo>
                    <a:pt x="77228" y="0"/>
                  </a:lnTo>
                  <a:lnTo>
                    <a:pt x="77228" y="72858"/>
                  </a:lnTo>
                  <a:lnTo>
                    <a:pt x="0" y="72858"/>
                  </a:lnTo>
                  <a:close/>
                </a:path>
              </a:pathLst>
            </a:custGeom>
            <a:solidFill>
              <a:srgbClr val="000000"/>
            </a:solidFill>
          </p:spPr>
        </p:sp>
        <p:sp>
          <p:nvSpPr>
            <p:cNvPr name="TextBox 4" id="4"/>
            <p:cNvSpPr txBox="true"/>
            <p:nvPr/>
          </p:nvSpPr>
          <p:spPr>
            <a:xfrm>
              <a:off x="0" y="-38100"/>
              <a:ext cx="77228" cy="110958"/>
            </a:xfrm>
            <a:prstGeom prst="rect">
              <a:avLst/>
            </a:prstGeom>
          </p:spPr>
          <p:txBody>
            <a:bodyPr anchor="ctr" rtlCol="false" tIns="50800" lIns="50800" bIns="50800" rIns="50800"/>
            <a:lstStyle/>
            <a:p>
              <a:pPr algn="ctr">
                <a:lnSpc>
                  <a:spcPts val="2940"/>
                </a:lnSpc>
              </a:pPr>
            </a:p>
          </p:txBody>
        </p:sp>
      </p:grpSp>
      <p:sp>
        <p:nvSpPr>
          <p:cNvPr name="TextBox 5" id="5"/>
          <p:cNvSpPr txBox="true"/>
          <p:nvPr/>
        </p:nvSpPr>
        <p:spPr>
          <a:xfrm rot="0">
            <a:off x="6655309" y="895350"/>
            <a:ext cx="5212363" cy="1275399"/>
          </a:xfrm>
          <a:prstGeom prst="rect">
            <a:avLst/>
          </a:prstGeom>
        </p:spPr>
        <p:txBody>
          <a:bodyPr anchor="t" rtlCol="false" tIns="0" lIns="0" bIns="0" rIns="0">
            <a:spAutoFit/>
          </a:bodyPr>
          <a:lstStyle/>
          <a:p>
            <a:pPr algn="l">
              <a:lnSpc>
                <a:spcPts val="10491"/>
              </a:lnSpc>
              <a:spcBef>
                <a:spcPct val="0"/>
              </a:spcBef>
            </a:pPr>
            <a:r>
              <a:rPr lang="en-US" sz="7493" b="true">
                <a:solidFill>
                  <a:srgbClr val="000000"/>
                </a:solidFill>
                <a:latin typeface="Inter Bold"/>
                <a:ea typeface="Inter Bold"/>
                <a:cs typeface="Inter Bold"/>
                <a:sym typeface="Inter Bold"/>
              </a:rPr>
              <a:t>Key Insight</a:t>
            </a:r>
          </a:p>
        </p:txBody>
      </p:sp>
      <p:sp>
        <p:nvSpPr>
          <p:cNvPr name="TextBox 6" id="6"/>
          <p:cNvSpPr txBox="true"/>
          <p:nvPr/>
        </p:nvSpPr>
        <p:spPr>
          <a:xfrm rot="0">
            <a:off x="2626749" y="2546859"/>
            <a:ext cx="13733274" cy="455295"/>
          </a:xfrm>
          <a:prstGeom prst="rect">
            <a:avLst/>
          </a:prstGeom>
        </p:spPr>
        <p:txBody>
          <a:bodyPr anchor="t" rtlCol="false" tIns="0" lIns="0" bIns="0" rIns="0">
            <a:spAutoFit/>
          </a:bodyPr>
          <a:lstStyle/>
          <a:p>
            <a:pPr algn="l">
              <a:lnSpc>
                <a:spcPts val="3780"/>
              </a:lnSpc>
              <a:spcBef>
                <a:spcPct val="0"/>
              </a:spcBef>
            </a:pPr>
            <a:r>
              <a:rPr lang="en-US" sz="2700" b="true">
                <a:solidFill>
                  <a:srgbClr val="000000"/>
                </a:solidFill>
                <a:latin typeface="Inter Medium"/>
                <a:ea typeface="Inter Medium"/>
                <a:cs typeface="Inter Medium"/>
                <a:sym typeface="Inter Medium"/>
              </a:rPr>
              <a:t>Technology consistently shows the strongest performance in both sales and prof</a:t>
            </a:r>
            <a:r>
              <a:rPr lang="en-US" sz="2700" b="true">
                <a:solidFill>
                  <a:srgbClr val="000000"/>
                </a:solidFill>
                <a:latin typeface="Inter Medium"/>
                <a:ea typeface="Inter Medium"/>
                <a:cs typeface="Inter Medium"/>
                <a:sym typeface="Inter Medium"/>
              </a:rPr>
              <a:t>it.</a:t>
            </a:r>
          </a:p>
        </p:txBody>
      </p:sp>
      <p:grpSp>
        <p:nvGrpSpPr>
          <p:cNvPr name="Group 7" id="7"/>
          <p:cNvGrpSpPr/>
          <p:nvPr/>
        </p:nvGrpSpPr>
        <p:grpSpPr>
          <a:xfrm rot="0">
            <a:off x="-2436573" y="-3314429"/>
            <a:ext cx="3086100" cy="6112748"/>
            <a:chOff x="0" y="0"/>
            <a:chExt cx="812800" cy="1609942"/>
          </a:xfrm>
        </p:grpSpPr>
        <p:sp>
          <p:nvSpPr>
            <p:cNvPr name="Freeform 8" id="8"/>
            <p:cNvSpPr/>
            <p:nvPr/>
          </p:nvSpPr>
          <p:spPr>
            <a:xfrm flipH="false" flipV="false" rot="0">
              <a:off x="0" y="0"/>
              <a:ext cx="812800" cy="1609942"/>
            </a:xfrm>
            <a:custGeom>
              <a:avLst/>
              <a:gdLst/>
              <a:ahLst/>
              <a:cxnLst/>
              <a:rect r="r" b="b" t="t" l="l"/>
              <a:pathLst>
                <a:path h="1609942" w="812800">
                  <a:moveTo>
                    <a:pt x="0" y="0"/>
                  </a:moveTo>
                  <a:lnTo>
                    <a:pt x="812800" y="0"/>
                  </a:lnTo>
                  <a:lnTo>
                    <a:pt x="812800" y="1609942"/>
                  </a:lnTo>
                  <a:lnTo>
                    <a:pt x="0" y="1609942"/>
                  </a:lnTo>
                  <a:close/>
                </a:path>
              </a:pathLst>
            </a:custGeom>
            <a:solidFill>
              <a:srgbClr val="FFDE59"/>
            </a:solidFill>
          </p:spPr>
        </p:sp>
        <p:sp>
          <p:nvSpPr>
            <p:cNvPr name="TextBox 9" id="9"/>
            <p:cNvSpPr txBox="true"/>
            <p:nvPr/>
          </p:nvSpPr>
          <p:spPr>
            <a:xfrm>
              <a:off x="0" y="-38100"/>
              <a:ext cx="812800" cy="1648042"/>
            </a:xfrm>
            <a:prstGeom prst="rect">
              <a:avLst/>
            </a:prstGeom>
          </p:spPr>
          <p:txBody>
            <a:bodyPr anchor="ctr" rtlCol="false" tIns="50800" lIns="50800" bIns="50800" rIns="50800"/>
            <a:lstStyle/>
            <a:p>
              <a:pPr algn="ctr">
                <a:lnSpc>
                  <a:spcPts val="2940"/>
                </a:lnSpc>
              </a:pPr>
            </a:p>
          </p:txBody>
        </p:sp>
      </p:grpSp>
      <p:grpSp>
        <p:nvGrpSpPr>
          <p:cNvPr name="Group 10" id="10"/>
          <p:cNvGrpSpPr/>
          <p:nvPr/>
        </p:nvGrpSpPr>
        <p:grpSpPr>
          <a:xfrm rot="0">
            <a:off x="16927427" y="9571481"/>
            <a:ext cx="3086100" cy="6112748"/>
            <a:chOff x="0" y="0"/>
            <a:chExt cx="812800" cy="1609942"/>
          </a:xfrm>
        </p:grpSpPr>
        <p:sp>
          <p:nvSpPr>
            <p:cNvPr name="Freeform 11" id="11"/>
            <p:cNvSpPr/>
            <p:nvPr/>
          </p:nvSpPr>
          <p:spPr>
            <a:xfrm flipH="false" flipV="false" rot="0">
              <a:off x="0" y="0"/>
              <a:ext cx="812800" cy="1609942"/>
            </a:xfrm>
            <a:custGeom>
              <a:avLst/>
              <a:gdLst/>
              <a:ahLst/>
              <a:cxnLst/>
              <a:rect r="r" b="b" t="t" l="l"/>
              <a:pathLst>
                <a:path h="1609942" w="812800">
                  <a:moveTo>
                    <a:pt x="0" y="0"/>
                  </a:moveTo>
                  <a:lnTo>
                    <a:pt x="812800" y="0"/>
                  </a:lnTo>
                  <a:lnTo>
                    <a:pt x="812800" y="1609942"/>
                  </a:lnTo>
                  <a:lnTo>
                    <a:pt x="0" y="1609942"/>
                  </a:lnTo>
                  <a:close/>
                </a:path>
              </a:pathLst>
            </a:custGeom>
            <a:solidFill>
              <a:srgbClr val="000000"/>
            </a:solidFill>
          </p:spPr>
        </p:sp>
        <p:sp>
          <p:nvSpPr>
            <p:cNvPr name="TextBox 12" id="12"/>
            <p:cNvSpPr txBox="true"/>
            <p:nvPr/>
          </p:nvSpPr>
          <p:spPr>
            <a:xfrm>
              <a:off x="0" y="-38100"/>
              <a:ext cx="812800" cy="1648042"/>
            </a:xfrm>
            <a:prstGeom prst="rect">
              <a:avLst/>
            </a:prstGeom>
          </p:spPr>
          <p:txBody>
            <a:bodyPr anchor="ctr" rtlCol="false" tIns="50800" lIns="50800" bIns="50800" rIns="50800"/>
            <a:lstStyle/>
            <a:p>
              <a:pPr algn="ctr">
                <a:lnSpc>
                  <a:spcPts val="2940"/>
                </a:lnSpc>
              </a:pPr>
            </a:p>
          </p:txBody>
        </p:sp>
      </p:grpSp>
      <p:grpSp>
        <p:nvGrpSpPr>
          <p:cNvPr name="Group 13" id="13"/>
          <p:cNvGrpSpPr/>
          <p:nvPr/>
        </p:nvGrpSpPr>
        <p:grpSpPr>
          <a:xfrm rot="0">
            <a:off x="2151918" y="2812402"/>
            <a:ext cx="293226" cy="276635"/>
            <a:chOff x="0" y="0"/>
            <a:chExt cx="77228" cy="72858"/>
          </a:xfrm>
        </p:grpSpPr>
        <p:sp>
          <p:nvSpPr>
            <p:cNvPr name="Freeform 14" id="14"/>
            <p:cNvSpPr/>
            <p:nvPr/>
          </p:nvSpPr>
          <p:spPr>
            <a:xfrm flipH="false" flipV="false" rot="0">
              <a:off x="0" y="0"/>
              <a:ext cx="77228" cy="72858"/>
            </a:xfrm>
            <a:custGeom>
              <a:avLst/>
              <a:gdLst/>
              <a:ahLst/>
              <a:cxnLst/>
              <a:rect r="r" b="b" t="t" l="l"/>
              <a:pathLst>
                <a:path h="72858" w="77228">
                  <a:moveTo>
                    <a:pt x="0" y="0"/>
                  </a:moveTo>
                  <a:lnTo>
                    <a:pt x="77228" y="0"/>
                  </a:lnTo>
                  <a:lnTo>
                    <a:pt x="77228" y="72858"/>
                  </a:lnTo>
                  <a:lnTo>
                    <a:pt x="0" y="72858"/>
                  </a:lnTo>
                  <a:close/>
                </a:path>
              </a:pathLst>
            </a:custGeom>
            <a:solidFill>
              <a:srgbClr val="FFDE59"/>
            </a:solidFill>
          </p:spPr>
        </p:sp>
        <p:sp>
          <p:nvSpPr>
            <p:cNvPr name="TextBox 15" id="15"/>
            <p:cNvSpPr txBox="true"/>
            <p:nvPr/>
          </p:nvSpPr>
          <p:spPr>
            <a:xfrm>
              <a:off x="0" y="-38100"/>
              <a:ext cx="77228" cy="110958"/>
            </a:xfrm>
            <a:prstGeom prst="rect">
              <a:avLst/>
            </a:prstGeom>
          </p:spPr>
          <p:txBody>
            <a:bodyPr anchor="ctr" rtlCol="false" tIns="50800" lIns="50800" bIns="50800" rIns="50800"/>
            <a:lstStyle/>
            <a:p>
              <a:pPr algn="ctr">
                <a:lnSpc>
                  <a:spcPts val="2940"/>
                </a:lnSpc>
              </a:pPr>
            </a:p>
          </p:txBody>
        </p:sp>
      </p:grpSp>
      <p:grpSp>
        <p:nvGrpSpPr>
          <p:cNvPr name="Group 16" id="16"/>
          <p:cNvGrpSpPr/>
          <p:nvPr/>
        </p:nvGrpSpPr>
        <p:grpSpPr>
          <a:xfrm rot="0">
            <a:off x="1999518" y="3391806"/>
            <a:ext cx="293226" cy="276635"/>
            <a:chOff x="0" y="0"/>
            <a:chExt cx="77228" cy="72858"/>
          </a:xfrm>
        </p:grpSpPr>
        <p:sp>
          <p:nvSpPr>
            <p:cNvPr name="Freeform 17" id="17"/>
            <p:cNvSpPr/>
            <p:nvPr/>
          </p:nvSpPr>
          <p:spPr>
            <a:xfrm flipH="false" flipV="false" rot="0">
              <a:off x="0" y="0"/>
              <a:ext cx="77228" cy="72858"/>
            </a:xfrm>
            <a:custGeom>
              <a:avLst/>
              <a:gdLst/>
              <a:ahLst/>
              <a:cxnLst/>
              <a:rect r="r" b="b" t="t" l="l"/>
              <a:pathLst>
                <a:path h="72858" w="77228">
                  <a:moveTo>
                    <a:pt x="0" y="0"/>
                  </a:moveTo>
                  <a:lnTo>
                    <a:pt x="77228" y="0"/>
                  </a:lnTo>
                  <a:lnTo>
                    <a:pt x="77228" y="72858"/>
                  </a:lnTo>
                  <a:lnTo>
                    <a:pt x="0" y="72858"/>
                  </a:lnTo>
                  <a:close/>
                </a:path>
              </a:pathLst>
            </a:custGeom>
            <a:solidFill>
              <a:srgbClr val="000000"/>
            </a:solidFill>
          </p:spPr>
        </p:sp>
        <p:sp>
          <p:nvSpPr>
            <p:cNvPr name="TextBox 18" id="18"/>
            <p:cNvSpPr txBox="true"/>
            <p:nvPr/>
          </p:nvSpPr>
          <p:spPr>
            <a:xfrm>
              <a:off x="0" y="-38100"/>
              <a:ext cx="77228" cy="110958"/>
            </a:xfrm>
            <a:prstGeom prst="rect">
              <a:avLst/>
            </a:prstGeom>
          </p:spPr>
          <p:txBody>
            <a:bodyPr anchor="ctr" rtlCol="false" tIns="50800" lIns="50800" bIns="50800" rIns="50800"/>
            <a:lstStyle/>
            <a:p>
              <a:pPr algn="ctr">
                <a:lnSpc>
                  <a:spcPts val="2940"/>
                </a:lnSpc>
              </a:pPr>
            </a:p>
          </p:txBody>
        </p:sp>
      </p:grpSp>
      <p:grpSp>
        <p:nvGrpSpPr>
          <p:cNvPr name="Group 19" id="19"/>
          <p:cNvGrpSpPr/>
          <p:nvPr/>
        </p:nvGrpSpPr>
        <p:grpSpPr>
          <a:xfrm rot="0">
            <a:off x="2151918" y="3530124"/>
            <a:ext cx="293226" cy="276635"/>
            <a:chOff x="0" y="0"/>
            <a:chExt cx="77228" cy="72858"/>
          </a:xfrm>
        </p:grpSpPr>
        <p:sp>
          <p:nvSpPr>
            <p:cNvPr name="Freeform 20" id="20"/>
            <p:cNvSpPr/>
            <p:nvPr/>
          </p:nvSpPr>
          <p:spPr>
            <a:xfrm flipH="false" flipV="false" rot="0">
              <a:off x="0" y="0"/>
              <a:ext cx="77228" cy="72858"/>
            </a:xfrm>
            <a:custGeom>
              <a:avLst/>
              <a:gdLst/>
              <a:ahLst/>
              <a:cxnLst/>
              <a:rect r="r" b="b" t="t" l="l"/>
              <a:pathLst>
                <a:path h="72858" w="77228">
                  <a:moveTo>
                    <a:pt x="0" y="0"/>
                  </a:moveTo>
                  <a:lnTo>
                    <a:pt x="77228" y="0"/>
                  </a:lnTo>
                  <a:lnTo>
                    <a:pt x="77228" y="72858"/>
                  </a:lnTo>
                  <a:lnTo>
                    <a:pt x="0" y="72858"/>
                  </a:lnTo>
                  <a:close/>
                </a:path>
              </a:pathLst>
            </a:custGeom>
            <a:solidFill>
              <a:srgbClr val="FFDE59"/>
            </a:solidFill>
          </p:spPr>
        </p:sp>
        <p:sp>
          <p:nvSpPr>
            <p:cNvPr name="TextBox 21" id="21"/>
            <p:cNvSpPr txBox="true"/>
            <p:nvPr/>
          </p:nvSpPr>
          <p:spPr>
            <a:xfrm>
              <a:off x="0" y="-38100"/>
              <a:ext cx="77228" cy="110958"/>
            </a:xfrm>
            <a:prstGeom prst="rect">
              <a:avLst/>
            </a:prstGeom>
          </p:spPr>
          <p:txBody>
            <a:bodyPr anchor="ctr" rtlCol="false" tIns="50800" lIns="50800" bIns="50800" rIns="50800"/>
            <a:lstStyle/>
            <a:p>
              <a:pPr algn="ctr">
                <a:lnSpc>
                  <a:spcPts val="2940"/>
                </a:lnSpc>
              </a:pPr>
            </a:p>
          </p:txBody>
        </p:sp>
      </p:grpSp>
      <p:sp>
        <p:nvSpPr>
          <p:cNvPr name="TextBox 22" id="22"/>
          <p:cNvSpPr txBox="true"/>
          <p:nvPr/>
        </p:nvSpPr>
        <p:spPr>
          <a:xfrm rot="0">
            <a:off x="2626749" y="3344181"/>
            <a:ext cx="13733274" cy="455295"/>
          </a:xfrm>
          <a:prstGeom prst="rect">
            <a:avLst/>
          </a:prstGeom>
        </p:spPr>
        <p:txBody>
          <a:bodyPr anchor="t" rtlCol="false" tIns="0" lIns="0" bIns="0" rIns="0">
            <a:spAutoFit/>
          </a:bodyPr>
          <a:lstStyle/>
          <a:p>
            <a:pPr algn="l">
              <a:lnSpc>
                <a:spcPts val="3780"/>
              </a:lnSpc>
              <a:spcBef>
                <a:spcPct val="0"/>
              </a:spcBef>
            </a:pPr>
            <a:r>
              <a:rPr lang="en-US" sz="2700" b="true">
                <a:solidFill>
                  <a:srgbClr val="000000"/>
                </a:solidFill>
                <a:latin typeface="Inter Medium"/>
                <a:ea typeface="Inter Medium"/>
                <a:cs typeface="Inter Medium"/>
                <a:sym typeface="Inter Medium"/>
              </a:rPr>
              <a:t>High sales do not always translate into high profit, as seen in the Furniture ca</a:t>
            </a:r>
            <a:r>
              <a:rPr lang="en-US" sz="2700" b="true">
                <a:solidFill>
                  <a:srgbClr val="000000"/>
                </a:solidFill>
                <a:latin typeface="Inter Medium"/>
                <a:ea typeface="Inter Medium"/>
                <a:cs typeface="Inter Medium"/>
                <a:sym typeface="Inter Medium"/>
              </a:rPr>
              <a:t>tegory.</a:t>
            </a:r>
          </a:p>
        </p:txBody>
      </p:sp>
      <p:grpSp>
        <p:nvGrpSpPr>
          <p:cNvPr name="Group 23" id="23"/>
          <p:cNvGrpSpPr/>
          <p:nvPr/>
        </p:nvGrpSpPr>
        <p:grpSpPr>
          <a:xfrm rot="0">
            <a:off x="1999518" y="4111558"/>
            <a:ext cx="293226" cy="276635"/>
            <a:chOff x="0" y="0"/>
            <a:chExt cx="77228" cy="72858"/>
          </a:xfrm>
        </p:grpSpPr>
        <p:sp>
          <p:nvSpPr>
            <p:cNvPr name="Freeform 24" id="24"/>
            <p:cNvSpPr/>
            <p:nvPr/>
          </p:nvSpPr>
          <p:spPr>
            <a:xfrm flipH="false" flipV="false" rot="0">
              <a:off x="0" y="0"/>
              <a:ext cx="77228" cy="72858"/>
            </a:xfrm>
            <a:custGeom>
              <a:avLst/>
              <a:gdLst/>
              <a:ahLst/>
              <a:cxnLst/>
              <a:rect r="r" b="b" t="t" l="l"/>
              <a:pathLst>
                <a:path h="72858" w="77228">
                  <a:moveTo>
                    <a:pt x="0" y="0"/>
                  </a:moveTo>
                  <a:lnTo>
                    <a:pt x="77228" y="0"/>
                  </a:lnTo>
                  <a:lnTo>
                    <a:pt x="77228" y="72858"/>
                  </a:lnTo>
                  <a:lnTo>
                    <a:pt x="0" y="72858"/>
                  </a:lnTo>
                  <a:close/>
                </a:path>
              </a:pathLst>
            </a:custGeom>
            <a:solidFill>
              <a:srgbClr val="000000"/>
            </a:solidFill>
          </p:spPr>
        </p:sp>
        <p:sp>
          <p:nvSpPr>
            <p:cNvPr name="TextBox 25" id="25"/>
            <p:cNvSpPr txBox="true"/>
            <p:nvPr/>
          </p:nvSpPr>
          <p:spPr>
            <a:xfrm>
              <a:off x="0" y="-38100"/>
              <a:ext cx="77228" cy="110958"/>
            </a:xfrm>
            <a:prstGeom prst="rect">
              <a:avLst/>
            </a:prstGeom>
          </p:spPr>
          <p:txBody>
            <a:bodyPr anchor="ctr" rtlCol="false" tIns="50800" lIns="50800" bIns="50800" rIns="50800"/>
            <a:lstStyle/>
            <a:p>
              <a:pPr algn="ctr">
                <a:lnSpc>
                  <a:spcPts val="2940"/>
                </a:lnSpc>
              </a:pPr>
            </a:p>
          </p:txBody>
        </p:sp>
      </p:grpSp>
      <p:grpSp>
        <p:nvGrpSpPr>
          <p:cNvPr name="Group 26" id="26"/>
          <p:cNvGrpSpPr/>
          <p:nvPr/>
        </p:nvGrpSpPr>
        <p:grpSpPr>
          <a:xfrm rot="0">
            <a:off x="2146131" y="4244908"/>
            <a:ext cx="293226" cy="276635"/>
            <a:chOff x="0" y="0"/>
            <a:chExt cx="77228" cy="72858"/>
          </a:xfrm>
        </p:grpSpPr>
        <p:sp>
          <p:nvSpPr>
            <p:cNvPr name="Freeform 27" id="27"/>
            <p:cNvSpPr/>
            <p:nvPr/>
          </p:nvSpPr>
          <p:spPr>
            <a:xfrm flipH="false" flipV="false" rot="0">
              <a:off x="0" y="0"/>
              <a:ext cx="77228" cy="72858"/>
            </a:xfrm>
            <a:custGeom>
              <a:avLst/>
              <a:gdLst/>
              <a:ahLst/>
              <a:cxnLst/>
              <a:rect r="r" b="b" t="t" l="l"/>
              <a:pathLst>
                <a:path h="72858" w="77228">
                  <a:moveTo>
                    <a:pt x="0" y="0"/>
                  </a:moveTo>
                  <a:lnTo>
                    <a:pt x="77228" y="0"/>
                  </a:lnTo>
                  <a:lnTo>
                    <a:pt x="77228" y="72858"/>
                  </a:lnTo>
                  <a:lnTo>
                    <a:pt x="0" y="72858"/>
                  </a:lnTo>
                  <a:close/>
                </a:path>
              </a:pathLst>
            </a:custGeom>
            <a:solidFill>
              <a:srgbClr val="FFDE59"/>
            </a:solidFill>
          </p:spPr>
        </p:sp>
        <p:sp>
          <p:nvSpPr>
            <p:cNvPr name="TextBox 28" id="28"/>
            <p:cNvSpPr txBox="true"/>
            <p:nvPr/>
          </p:nvSpPr>
          <p:spPr>
            <a:xfrm>
              <a:off x="0" y="-38100"/>
              <a:ext cx="77228" cy="110958"/>
            </a:xfrm>
            <a:prstGeom prst="rect">
              <a:avLst/>
            </a:prstGeom>
          </p:spPr>
          <p:txBody>
            <a:bodyPr anchor="ctr" rtlCol="false" tIns="50800" lIns="50800" bIns="50800" rIns="50800"/>
            <a:lstStyle/>
            <a:p>
              <a:pPr algn="ctr">
                <a:lnSpc>
                  <a:spcPts val="2940"/>
                </a:lnSpc>
              </a:pPr>
            </a:p>
          </p:txBody>
        </p:sp>
      </p:grpSp>
      <p:sp>
        <p:nvSpPr>
          <p:cNvPr name="TextBox 29" id="29"/>
          <p:cNvSpPr txBox="true"/>
          <p:nvPr/>
        </p:nvSpPr>
        <p:spPr>
          <a:xfrm rot="0">
            <a:off x="2626749" y="4066248"/>
            <a:ext cx="13733274" cy="931545"/>
          </a:xfrm>
          <a:prstGeom prst="rect">
            <a:avLst/>
          </a:prstGeom>
        </p:spPr>
        <p:txBody>
          <a:bodyPr anchor="t" rtlCol="false" tIns="0" lIns="0" bIns="0" rIns="0">
            <a:spAutoFit/>
          </a:bodyPr>
          <a:lstStyle/>
          <a:p>
            <a:pPr algn="l">
              <a:lnSpc>
                <a:spcPts val="3780"/>
              </a:lnSpc>
              <a:spcBef>
                <a:spcPct val="0"/>
              </a:spcBef>
            </a:pPr>
            <a:r>
              <a:rPr lang="en-US" sz="2700" b="true">
                <a:solidFill>
                  <a:srgbClr val="000000"/>
                </a:solidFill>
                <a:latin typeface="Inter Medium"/>
                <a:ea typeface="Inter Medium"/>
                <a:cs typeface="Inter Medium"/>
                <a:sym typeface="Inter Medium"/>
              </a:rPr>
              <a:t>Furniture’s low profit despite relatively high sales suggests potential issues in pricing or discount stra</a:t>
            </a:r>
            <a:r>
              <a:rPr lang="en-US" sz="2700" b="true">
                <a:solidFill>
                  <a:srgbClr val="000000"/>
                </a:solidFill>
                <a:latin typeface="Inter Medium"/>
                <a:ea typeface="Inter Medium"/>
                <a:cs typeface="Inter Medium"/>
                <a:sym typeface="Inter Medium"/>
              </a:rPr>
              <a:t>tegy.</a:t>
            </a:r>
          </a:p>
        </p:txBody>
      </p:sp>
      <p:grpSp>
        <p:nvGrpSpPr>
          <p:cNvPr name="Group 30" id="30"/>
          <p:cNvGrpSpPr/>
          <p:nvPr/>
        </p:nvGrpSpPr>
        <p:grpSpPr>
          <a:xfrm rot="0">
            <a:off x="1999518" y="5236327"/>
            <a:ext cx="293226" cy="276635"/>
            <a:chOff x="0" y="0"/>
            <a:chExt cx="77228" cy="72858"/>
          </a:xfrm>
        </p:grpSpPr>
        <p:sp>
          <p:nvSpPr>
            <p:cNvPr name="Freeform 31" id="31"/>
            <p:cNvSpPr/>
            <p:nvPr/>
          </p:nvSpPr>
          <p:spPr>
            <a:xfrm flipH="false" flipV="false" rot="0">
              <a:off x="0" y="0"/>
              <a:ext cx="77228" cy="72858"/>
            </a:xfrm>
            <a:custGeom>
              <a:avLst/>
              <a:gdLst/>
              <a:ahLst/>
              <a:cxnLst/>
              <a:rect r="r" b="b" t="t" l="l"/>
              <a:pathLst>
                <a:path h="72858" w="77228">
                  <a:moveTo>
                    <a:pt x="0" y="0"/>
                  </a:moveTo>
                  <a:lnTo>
                    <a:pt x="77228" y="0"/>
                  </a:lnTo>
                  <a:lnTo>
                    <a:pt x="77228" y="72858"/>
                  </a:lnTo>
                  <a:lnTo>
                    <a:pt x="0" y="72858"/>
                  </a:lnTo>
                  <a:close/>
                </a:path>
              </a:pathLst>
            </a:custGeom>
            <a:solidFill>
              <a:srgbClr val="000000"/>
            </a:solidFill>
          </p:spPr>
        </p:sp>
        <p:sp>
          <p:nvSpPr>
            <p:cNvPr name="TextBox 32" id="32"/>
            <p:cNvSpPr txBox="true"/>
            <p:nvPr/>
          </p:nvSpPr>
          <p:spPr>
            <a:xfrm>
              <a:off x="0" y="-38100"/>
              <a:ext cx="77228" cy="110958"/>
            </a:xfrm>
            <a:prstGeom prst="rect">
              <a:avLst/>
            </a:prstGeom>
          </p:spPr>
          <p:txBody>
            <a:bodyPr anchor="ctr" rtlCol="false" tIns="50800" lIns="50800" bIns="50800" rIns="50800"/>
            <a:lstStyle/>
            <a:p>
              <a:pPr algn="ctr">
                <a:lnSpc>
                  <a:spcPts val="2940"/>
                </a:lnSpc>
              </a:pPr>
            </a:p>
          </p:txBody>
        </p:sp>
      </p:grpSp>
      <p:grpSp>
        <p:nvGrpSpPr>
          <p:cNvPr name="Group 33" id="33"/>
          <p:cNvGrpSpPr/>
          <p:nvPr/>
        </p:nvGrpSpPr>
        <p:grpSpPr>
          <a:xfrm rot="0">
            <a:off x="2151918" y="5374645"/>
            <a:ext cx="293226" cy="276635"/>
            <a:chOff x="0" y="0"/>
            <a:chExt cx="77228" cy="72858"/>
          </a:xfrm>
        </p:grpSpPr>
        <p:sp>
          <p:nvSpPr>
            <p:cNvPr name="Freeform 34" id="34"/>
            <p:cNvSpPr/>
            <p:nvPr/>
          </p:nvSpPr>
          <p:spPr>
            <a:xfrm flipH="false" flipV="false" rot="0">
              <a:off x="0" y="0"/>
              <a:ext cx="77228" cy="72858"/>
            </a:xfrm>
            <a:custGeom>
              <a:avLst/>
              <a:gdLst/>
              <a:ahLst/>
              <a:cxnLst/>
              <a:rect r="r" b="b" t="t" l="l"/>
              <a:pathLst>
                <a:path h="72858" w="77228">
                  <a:moveTo>
                    <a:pt x="0" y="0"/>
                  </a:moveTo>
                  <a:lnTo>
                    <a:pt x="77228" y="0"/>
                  </a:lnTo>
                  <a:lnTo>
                    <a:pt x="77228" y="72858"/>
                  </a:lnTo>
                  <a:lnTo>
                    <a:pt x="0" y="72858"/>
                  </a:lnTo>
                  <a:close/>
                </a:path>
              </a:pathLst>
            </a:custGeom>
            <a:solidFill>
              <a:srgbClr val="FFDE59"/>
            </a:solidFill>
          </p:spPr>
        </p:sp>
        <p:sp>
          <p:nvSpPr>
            <p:cNvPr name="TextBox 35" id="35"/>
            <p:cNvSpPr txBox="true"/>
            <p:nvPr/>
          </p:nvSpPr>
          <p:spPr>
            <a:xfrm>
              <a:off x="0" y="-38100"/>
              <a:ext cx="77228" cy="110958"/>
            </a:xfrm>
            <a:prstGeom prst="rect">
              <a:avLst/>
            </a:prstGeom>
          </p:spPr>
          <p:txBody>
            <a:bodyPr anchor="ctr" rtlCol="false" tIns="50800" lIns="50800" bIns="50800" rIns="50800"/>
            <a:lstStyle/>
            <a:p>
              <a:pPr algn="ctr">
                <a:lnSpc>
                  <a:spcPts val="2940"/>
                </a:lnSpc>
              </a:pPr>
            </a:p>
          </p:txBody>
        </p:sp>
      </p:grpSp>
      <p:sp>
        <p:nvSpPr>
          <p:cNvPr name="TextBox 36" id="36"/>
          <p:cNvSpPr txBox="true"/>
          <p:nvPr/>
        </p:nvSpPr>
        <p:spPr>
          <a:xfrm rot="0">
            <a:off x="2626749" y="5188702"/>
            <a:ext cx="13733274" cy="931545"/>
          </a:xfrm>
          <a:prstGeom prst="rect">
            <a:avLst/>
          </a:prstGeom>
        </p:spPr>
        <p:txBody>
          <a:bodyPr anchor="t" rtlCol="false" tIns="0" lIns="0" bIns="0" rIns="0">
            <a:spAutoFit/>
          </a:bodyPr>
          <a:lstStyle/>
          <a:p>
            <a:pPr algn="l">
              <a:lnSpc>
                <a:spcPts val="3780"/>
              </a:lnSpc>
              <a:spcBef>
                <a:spcPct val="0"/>
              </a:spcBef>
            </a:pPr>
            <a:r>
              <a:rPr lang="en-US" sz="2700" b="true">
                <a:solidFill>
                  <a:srgbClr val="000000"/>
                </a:solidFill>
                <a:latin typeface="Inter Medium"/>
                <a:ea typeface="Inter Medium"/>
                <a:cs typeface="Inter Medium"/>
                <a:sym typeface="Inter Medium"/>
              </a:rPr>
              <a:t>Product categories with higher profit margins should be prioritized for business grow</a:t>
            </a:r>
            <a:r>
              <a:rPr lang="en-US" sz="2700" b="true">
                <a:solidFill>
                  <a:srgbClr val="000000"/>
                </a:solidFill>
                <a:latin typeface="Inter Medium"/>
                <a:ea typeface="Inter Medium"/>
                <a:cs typeface="Inter Medium"/>
                <a:sym typeface="Inter Medium"/>
              </a:rPr>
              <a:t>th.</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675788" y="6413091"/>
            <a:ext cx="2936424" cy="455295"/>
          </a:xfrm>
          <a:prstGeom prst="rect">
            <a:avLst/>
          </a:prstGeom>
        </p:spPr>
        <p:txBody>
          <a:bodyPr anchor="t" rtlCol="false" tIns="0" lIns="0" bIns="0" rIns="0">
            <a:spAutoFit/>
          </a:bodyPr>
          <a:lstStyle/>
          <a:p>
            <a:pPr algn="ctr">
              <a:lnSpc>
                <a:spcPts val="3780"/>
              </a:lnSpc>
              <a:spcBef>
                <a:spcPct val="0"/>
              </a:spcBef>
            </a:pPr>
            <a:r>
              <a:rPr lang="en-US" b="true" sz="2700">
                <a:solidFill>
                  <a:srgbClr val="FFFFFF"/>
                </a:solidFill>
                <a:latin typeface="Inter Medium"/>
                <a:ea typeface="Inter Medium"/>
                <a:cs typeface="Inter Medium"/>
                <a:sym typeface="Inter Medium"/>
              </a:rPr>
              <a:t>Helene Paquet</a:t>
            </a:r>
          </a:p>
        </p:txBody>
      </p:sp>
      <p:grpSp>
        <p:nvGrpSpPr>
          <p:cNvPr name="Group 3" id="3"/>
          <p:cNvGrpSpPr/>
          <p:nvPr/>
        </p:nvGrpSpPr>
        <p:grpSpPr>
          <a:xfrm rot="0">
            <a:off x="15928111" y="9258300"/>
            <a:ext cx="5275101" cy="3601622"/>
            <a:chOff x="0" y="0"/>
            <a:chExt cx="1389327" cy="948575"/>
          </a:xfrm>
        </p:grpSpPr>
        <p:sp>
          <p:nvSpPr>
            <p:cNvPr name="Freeform 4" id="4"/>
            <p:cNvSpPr/>
            <p:nvPr/>
          </p:nvSpPr>
          <p:spPr>
            <a:xfrm flipH="false" flipV="false" rot="0">
              <a:off x="0" y="0"/>
              <a:ext cx="1389327" cy="948575"/>
            </a:xfrm>
            <a:custGeom>
              <a:avLst/>
              <a:gdLst/>
              <a:ahLst/>
              <a:cxnLst/>
              <a:rect r="r" b="b" t="t" l="l"/>
              <a:pathLst>
                <a:path h="948575" w="1389327">
                  <a:moveTo>
                    <a:pt x="0" y="0"/>
                  </a:moveTo>
                  <a:lnTo>
                    <a:pt x="1389327" y="0"/>
                  </a:lnTo>
                  <a:lnTo>
                    <a:pt x="1389327" y="948575"/>
                  </a:lnTo>
                  <a:lnTo>
                    <a:pt x="0" y="948575"/>
                  </a:lnTo>
                  <a:close/>
                </a:path>
              </a:pathLst>
            </a:custGeom>
            <a:solidFill>
              <a:srgbClr val="FFDE59"/>
            </a:solidFill>
          </p:spPr>
        </p:sp>
        <p:sp>
          <p:nvSpPr>
            <p:cNvPr name="TextBox 5" id="5"/>
            <p:cNvSpPr txBox="true"/>
            <p:nvPr/>
          </p:nvSpPr>
          <p:spPr>
            <a:xfrm>
              <a:off x="0" y="-38100"/>
              <a:ext cx="1389327" cy="986675"/>
            </a:xfrm>
            <a:prstGeom prst="rect">
              <a:avLst/>
            </a:prstGeom>
          </p:spPr>
          <p:txBody>
            <a:bodyPr anchor="ctr" rtlCol="false" tIns="50800" lIns="50800" bIns="50800" rIns="50800"/>
            <a:lstStyle/>
            <a:p>
              <a:pPr algn="ctr">
                <a:lnSpc>
                  <a:spcPts val="2940"/>
                </a:lnSpc>
              </a:pPr>
            </a:p>
          </p:txBody>
        </p:sp>
      </p:grpSp>
      <p:grpSp>
        <p:nvGrpSpPr>
          <p:cNvPr name="Group 6" id="6"/>
          <p:cNvGrpSpPr/>
          <p:nvPr/>
        </p:nvGrpSpPr>
        <p:grpSpPr>
          <a:xfrm rot="0">
            <a:off x="-1506237" y="-1792351"/>
            <a:ext cx="3086100" cy="6112748"/>
            <a:chOff x="0" y="0"/>
            <a:chExt cx="812800" cy="1609942"/>
          </a:xfrm>
        </p:grpSpPr>
        <p:sp>
          <p:nvSpPr>
            <p:cNvPr name="Freeform 7" id="7"/>
            <p:cNvSpPr/>
            <p:nvPr/>
          </p:nvSpPr>
          <p:spPr>
            <a:xfrm flipH="false" flipV="false" rot="0">
              <a:off x="0" y="0"/>
              <a:ext cx="812800" cy="1609942"/>
            </a:xfrm>
            <a:custGeom>
              <a:avLst/>
              <a:gdLst/>
              <a:ahLst/>
              <a:cxnLst/>
              <a:rect r="r" b="b" t="t" l="l"/>
              <a:pathLst>
                <a:path h="1609942" w="812800">
                  <a:moveTo>
                    <a:pt x="0" y="0"/>
                  </a:moveTo>
                  <a:lnTo>
                    <a:pt x="812800" y="0"/>
                  </a:lnTo>
                  <a:lnTo>
                    <a:pt x="812800" y="1609942"/>
                  </a:lnTo>
                  <a:lnTo>
                    <a:pt x="0" y="1609942"/>
                  </a:lnTo>
                  <a:close/>
                </a:path>
              </a:pathLst>
            </a:custGeom>
            <a:solidFill>
              <a:srgbClr val="000000"/>
            </a:solidFill>
          </p:spPr>
        </p:sp>
        <p:sp>
          <p:nvSpPr>
            <p:cNvPr name="TextBox 8" id="8"/>
            <p:cNvSpPr txBox="true"/>
            <p:nvPr/>
          </p:nvSpPr>
          <p:spPr>
            <a:xfrm>
              <a:off x="0" y="-38100"/>
              <a:ext cx="812800" cy="1648042"/>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3382879" y="1375016"/>
            <a:ext cx="11522242" cy="1118754"/>
          </a:xfrm>
          <a:prstGeom prst="rect">
            <a:avLst/>
          </a:prstGeom>
        </p:spPr>
        <p:txBody>
          <a:bodyPr anchor="t" rtlCol="false" tIns="0" lIns="0" bIns="0" rIns="0">
            <a:spAutoFit/>
          </a:bodyPr>
          <a:lstStyle/>
          <a:p>
            <a:pPr algn="l">
              <a:lnSpc>
                <a:spcPts val="9142"/>
              </a:lnSpc>
              <a:spcBef>
                <a:spcPct val="0"/>
              </a:spcBef>
            </a:pPr>
            <a:r>
              <a:rPr lang="en-US" sz="6530" b="true">
                <a:solidFill>
                  <a:srgbClr val="000000"/>
                </a:solidFill>
                <a:latin typeface="Inter Bold"/>
                <a:ea typeface="Inter Bold"/>
                <a:cs typeface="Inter Bold"/>
                <a:sym typeface="Inter Bold"/>
              </a:rPr>
              <a:t>Business Recommendations</a:t>
            </a:r>
          </a:p>
        </p:txBody>
      </p:sp>
      <p:grpSp>
        <p:nvGrpSpPr>
          <p:cNvPr name="Group 10" id="10"/>
          <p:cNvGrpSpPr/>
          <p:nvPr/>
        </p:nvGrpSpPr>
        <p:grpSpPr>
          <a:xfrm rot="0">
            <a:off x="2663007" y="3233253"/>
            <a:ext cx="407670" cy="407670"/>
            <a:chOff x="0" y="0"/>
            <a:chExt cx="107370" cy="107370"/>
          </a:xfrm>
        </p:grpSpPr>
        <p:sp>
          <p:nvSpPr>
            <p:cNvPr name="Freeform 11" id="11"/>
            <p:cNvSpPr/>
            <p:nvPr/>
          </p:nvSpPr>
          <p:spPr>
            <a:xfrm flipH="false" flipV="false" rot="0">
              <a:off x="0" y="0"/>
              <a:ext cx="107370" cy="107370"/>
            </a:xfrm>
            <a:custGeom>
              <a:avLst/>
              <a:gdLst/>
              <a:ahLst/>
              <a:cxnLst/>
              <a:rect r="r" b="b" t="t" l="l"/>
              <a:pathLst>
                <a:path h="107370" w="107370">
                  <a:moveTo>
                    <a:pt x="0" y="0"/>
                  </a:moveTo>
                  <a:lnTo>
                    <a:pt x="107370" y="0"/>
                  </a:lnTo>
                  <a:lnTo>
                    <a:pt x="107370" y="107370"/>
                  </a:lnTo>
                  <a:lnTo>
                    <a:pt x="0" y="107370"/>
                  </a:lnTo>
                  <a:close/>
                </a:path>
              </a:pathLst>
            </a:custGeom>
            <a:solidFill>
              <a:srgbClr val="FFDE59"/>
            </a:solidFill>
          </p:spPr>
        </p:sp>
        <p:sp>
          <p:nvSpPr>
            <p:cNvPr name="TextBox 12" id="12"/>
            <p:cNvSpPr txBox="true"/>
            <p:nvPr/>
          </p:nvSpPr>
          <p:spPr>
            <a:xfrm>
              <a:off x="0" y="-38100"/>
              <a:ext cx="107370" cy="145470"/>
            </a:xfrm>
            <a:prstGeom prst="rect">
              <a:avLst/>
            </a:prstGeom>
          </p:spPr>
          <p:txBody>
            <a:bodyPr anchor="ctr" rtlCol="false" tIns="50800" lIns="50800" bIns="50800" rIns="50800"/>
            <a:lstStyle/>
            <a:p>
              <a:pPr algn="ctr">
                <a:lnSpc>
                  <a:spcPts val="2940"/>
                </a:lnSpc>
              </a:pPr>
            </a:p>
          </p:txBody>
        </p:sp>
      </p:grpSp>
      <p:sp>
        <p:nvSpPr>
          <p:cNvPr name="TextBox 13" id="13"/>
          <p:cNvSpPr txBox="true"/>
          <p:nvPr/>
        </p:nvSpPr>
        <p:spPr>
          <a:xfrm rot="0">
            <a:off x="3382879" y="3303738"/>
            <a:ext cx="12911180" cy="514350"/>
          </a:xfrm>
          <a:prstGeom prst="rect">
            <a:avLst/>
          </a:prstGeom>
        </p:spPr>
        <p:txBody>
          <a:bodyPr anchor="t" rtlCol="false" tIns="0" lIns="0" bIns="0" rIns="0">
            <a:spAutoFit/>
          </a:bodyPr>
          <a:lstStyle/>
          <a:p>
            <a:pPr algn="l">
              <a:lnSpc>
                <a:spcPts val="4200"/>
              </a:lnSpc>
              <a:spcBef>
                <a:spcPct val="0"/>
              </a:spcBef>
            </a:pPr>
            <a:r>
              <a:rPr lang="en-US" sz="3000" b="true">
                <a:solidFill>
                  <a:srgbClr val="000000"/>
                </a:solidFill>
                <a:latin typeface="Inter Medium"/>
                <a:ea typeface="Inter Medium"/>
                <a:cs typeface="Inter Medium"/>
                <a:sym typeface="Inter Medium"/>
              </a:rPr>
              <a:t>Focus on high-performing categories to maximize revenue contr</a:t>
            </a:r>
            <a:r>
              <a:rPr lang="en-US" sz="3000" b="true">
                <a:solidFill>
                  <a:srgbClr val="000000"/>
                </a:solidFill>
                <a:latin typeface="Inter Medium"/>
                <a:ea typeface="Inter Medium"/>
                <a:cs typeface="Inter Medium"/>
                <a:sym typeface="Inter Medium"/>
              </a:rPr>
              <a:t>ibution.</a:t>
            </a:r>
          </a:p>
        </p:txBody>
      </p:sp>
      <p:grpSp>
        <p:nvGrpSpPr>
          <p:cNvPr name="Group 14" id="14"/>
          <p:cNvGrpSpPr/>
          <p:nvPr/>
        </p:nvGrpSpPr>
        <p:grpSpPr>
          <a:xfrm rot="0">
            <a:off x="2815407" y="3385653"/>
            <a:ext cx="407670" cy="407670"/>
            <a:chOff x="0" y="0"/>
            <a:chExt cx="107370" cy="107370"/>
          </a:xfrm>
        </p:grpSpPr>
        <p:sp>
          <p:nvSpPr>
            <p:cNvPr name="Freeform 15" id="15"/>
            <p:cNvSpPr/>
            <p:nvPr/>
          </p:nvSpPr>
          <p:spPr>
            <a:xfrm flipH="false" flipV="false" rot="0">
              <a:off x="0" y="0"/>
              <a:ext cx="107370" cy="107370"/>
            </a:xfrm>
            <a:custGeom>
              <a:avLst/>
              <a:gdLst/>
              <a:ahLst/>
              <a:cxnLst/>
              <a:rect r="r" b="b" t="t" l="l"/>
              <a:pathLst>
                <a:path h="107370" w="107370">
                  <a:moveTo>
                    <a:pt x="0" y="0"/>
                  </a:moveTo>
                  <a:lnTo>
                    <a:pt x="107370" y="0"/>
                  </a:lnTo>
                  <a:lnTo>
                    <a:pt x="107370" y="107370"/>
                  </a:lnTo>
                  <a:lnTo>
                    <a:pt x="0" y="107370"/>
                  </a:lnTo>
                  <a:close/>
                </a:path>
              </a:pathLst>
            </a:custGeom>
            <a:solidFill>
              <a:srgbClr val="000000"/>
            </a:solidFill>
          </p:spPr>
        </p:sp>
        <p:sp>
          <p:nvSpPr>
            <p:cNvPr name="TextBox 16" id="16"/>
            <p:cNvSpPr txBox="true"/>
            <p:nvPr/>
          </p:nvSpPr>
          <p:spPr>
            <a:xfrm>
              <a:off x="0" y="-38100"/>
              <a:ext cx="107370" cy="145470"/>
            </a:xfrm>
            <a:prstGeom prst="rect">
              <a:avLst/>
            </a:prstGeom>
          </p:spPr>
          <p:txBody>
            <a:bodyPr anchor="ctr" rtlCol="false" tIns="50800" lIns="50800" bIns="50800" rIns="50800"/>
            <a:lstStyle/>
            <a:p>
              <a:pPr algn="ctr">
                <a:lnSpc>
                  <a:spcPts val="2940"/>
                </a:lnSpc>
              </a:pPr>
            </a:p>
          </p:txBody>
        </p:sp>
      </p:grpSp>
      <p:grpSp>
        <p:nvGrpSpPr>
          <p:cNvPr name="Group 17" id="17"/>
          <p:cNvGrpSpPr/>
          <p:nvPr/>
        </p:nvGrpSpPr>
        <p:grpSpPr>
          <a:xfrm rot="0">
            <a:off x="2663007" y="4116562"/>
            <a:ext cx="407670" cy="407670"/>
            <a:chOff x="0" y="0"/>
            <a:chExt cx="107370" cy="107370"/>
          </a:xfrm>
        </p:grpSpPr>
        <p:sp>
          <p:nvSpPr>
            <p:cNvPr name="Freeform 18" id="18"/>
            <p:cNvSpPr/>
            <p:nvPr/>
          </p:nvSpPr>
          <p:spPr>
            <a:xfrm flipH="false" flipV="false" rot="0">
              <a:off x="0" y="0"/>
              <a:ext cx="107370" cy="107370"/>
            </a:xfrm>
            <a:custGeom>
              <a:avLst/>
              <a:gdLst/>
              <a:ahLst/>
              <a:cxnLst/>
              <a:rect r="r" b="b" t="t" l="l"/>
              <a:pathLst>
                <a:path h="107370" w="107370">
                  <a:moveTo>
                    <a:pt x="0" y="0"/>
                  </a:moveTo>
                  <a:lnTo>
                    <a:pt x="107370" y="0"/>
                  </a:lnTo>
                  <a:lnTo>
                    <a:pt x="107370" y="107370"/>
                  </a:lnTo>
                  <a:lnTo>
                    <a:pt x="0" y="107370"/>
                  </a:lnTo>
                  <a:close/>
                </a:path>
              </a:pathLst>
            </a:custGeom>
            <a:solidFill>
              <a:srgbClr val="FFDE59"/>
            </a:solidFill>
          </p:spPr>
        </p:sp>
        <p:sp>
          <p:nvSpPr>
            <p:cNvPr name="TextBox 19" id="19"/>
            <p:cNvSpPr txBox="true"/>
            <p:nvPr/>
          </p:nvSpPr>
          <p:spPr>
            <a:xfrm>
              <a:off x="0" y="-38100"/>
              <a:ext cx="107370" cy="145470"/>
            </a:xfrm>
            <a:prstGeom prst="rect">
              <a:avLst/>
            </a:prstGeom>
          </p:spPr>
          <p:txBody>
            <a:bodyPr anchor="ctr" rtlCol="false" tIns="50800" lIns="50800" bIns="50800" rIns="50800"/>
            <a:lstStyle/>
            <a:p>
              <a:pPr algn="ctr">
                <a:lnSpc>
                  <a:spcPts val="2940"/>
                </a:lnSpc>
              </a:pPr>
            </a:p>
          </p:txBody>
        </p:sp>
      </p:grpSp>
      <p:grpSp>
        <p:nvGrpSpPr>
          <p:cNvPr name="Group 20" id="20"/>
          <p:cNvGrpSpPr/>
          <p:nvPr/>
        </p:nvGrpSpPr>
        <p:grpSpPr>
          <a:xfrm rot="0">
            <a:off x="2815407" y="4320397"/>
            <a:ext cx="407670" cy="407670"/>
            <a:chOff x="0" y="0"/>
            <a:chExt cx="107370" cy="107370"/>
          </a:xfrm>
        </p:grpSpPr>
        <p:sp>
          <p:nvSpPr>
            <p:cNvPr name="Freeform 21" id="21"/>
            <p:cNvSpPr/>
            <p:nvPr/>
          </p:nvSpPr>
          <p:spPr>
            <a:xfrm flipH="false" flipV="false" rot="0">
              <a:off x="0" y="0"/>
              <a:ext cx="107370" cy="107370"/>
            </a:xfrm>
            <a:custGeom>
              <a:avLst/>
              <a:gdLst/>
              <a:ahLst/>
              <a:cxnLst/>
              <a:rect r="r" b="b" t="t" l="l"/>
              <a:pathLst>
                <a:path h="107370" w="107370">
                  <a:moveTo>
                    <a:pt x="0" y="0"/>
                  </a:moveTo>
                  <a:lnTo>
                    <a:pt x="107370" y="0"/>
                  </a:lnTo>
                  <a:lnTo>
                    <a:pt x="107370" y="107370"/>
                  </a:lnTo>
                  <a:lnTo>
                    <a:pt x="0" y="107370"/>
                  </a:lnTo>
                  <a:close/>
                </a:path>
              </a:pathLst>
            </a:custGeom>
            <a:solidFill>
              <a:srgbClr val="000000"/>
            </a:solidFill>
          </p:spPr>
        </p:sp>
        <p:sp>
          <p:nvSpPr>
            <p:cNvPr name="TextBox 22" id="22"/>
            <p:cNvSpPr txBox="true"/>
            <p:nvPr/>
          </p:nvSpPr>
          <p:spPr>
            <a:xfrm>
              <a:off x="0" y="-38100"/>
              <a:ext cx="107370" cy="145470"/>
            </a:xfrm>
            <a:prstGeom prst="rect">
              <a:avLst/>
            </a:prstGeom>
          </p:spPr>
          <p:txBody>
            <a:bodyPr anchor="ctr" rtlCol="false" tIns="50800" lIns="50800" bIns="50800" rIns="50800"/>
            <a:lstStyle/>
            <a:p>
              <a:pPr algn="ctr">
                <a:lnSpc>
                  <a:spcPts val="2940"/>
                </a:lnSpc>
              </a:pPr>
            </a:p>
          </p:txBody>
        </p:sp>
      </p:grpSp>
      <p:sp>
        <p:nvSpPr>
          <p:cNvPr name="TextBox 23" id="23"/>
          <p:cNvSpPr txBox="true"/>
          <p:nvPr/>
        </p:nvSpPr>
        <p:spPr>
          <a:xfrm rot="0">
            <a:off x="3392676" y="4143868"/>
            <a:ext cx="13733274" cy="514350"/>
          </a:xfrm>
          <a:prstGeom prst="rect">
            <a:avLst/>
          </a:prstGeom>
        </p:spPr>
        <p:txBody>
          <a:bodyPr anchor="t" rtlCol="false" tIns="0" lIns="0" bIns="0" rIns="0">
            <a:spAutoFit/>
          </a:bodyPr>
          <a:lstStyle/>
          <a:p>
            <a:pPr algn="l">
              <a:lnSpc>
                <a:spcPts val="4200"/>
              </a:lnSpc>
              <a:spcBef>
                <a:spcPct val="0"/>
              </a:spcBef>
            </a:pPr>
            <a:r>
              <a:rPr lang="en-US" sz="3000" b="true">
                <a:solidFill>
                  <a:srgbClr val="000000"/>
                </a:solidFill>
                <a:latin typeface="Inter Medium"/>
                <a:ea typeface="Inter Medium"/>
                <a:cs typeface="Inter Medium"/>
                <a:sym typeface="Inter Medium"/>
              </a:rPr>
              <a:t>Investigate factors driving high profitability in the Technology ca</a:t>
            </a:r>
            <a:r>
              <a:rPr lang="en-US" sz="3000" b="true">
                <a:solidFill>
                  <a:srgbClr val="000000"/>
                </a:solidFill>
                <a:latin typeface="Inter Medium"/>
                <a:ea typeface="Inter Medium"/>
                <a:cs typeface="Inter Medium"/>
                <a:sym typeface="Inter Medium"/>
              </a:rPr>
              <a:t>tegory.</a:t>
            </a:r>
          </a:p>
        </p:txBody>
      </p:sp>
      <p:grpSp>
        <p:nvGrpSpPr>
          <p:cNvPr name="Group 24" id="24"/>
          <p:cNvGrpSpPr/>
          <p:nvPr/>
        </p:nvGrpSpPr>
        <p:grpSpPr>
          <a:xfrm rot="0">
            <a:off x="2663007" y="5051917"/>
            <a:ext cx="407670" cy="407670"/>
            <a:chOff x="0" y="0"/>
            <a:chExt cx="107370" cy="107370"/>
          </a:xfrm>
        </p:grpSpPr>
        <p:sp>
          <p:nvSpPr>
            <p:cNvPr name="Freeform 25" id="25"/>
            <p:cNvSpPr/>
            <p:nvPr/>
          </p:nvSpPr>
          <p:spPr>
            <a:xfrm flipH="false" flipV="false" rot="0">
              <a:off x="0" y="0"/>
              <a:ext cx="107370" cy="107370"/>
            </a:xfrm>
            <a:custGeom>
              <a:avLst/>
              <a:gdLst/>
              <a:ahLst/>
              <a:cxnLst/>
              <a:rect r="r" b="b" t="t" l="l"/>
              <a:pathLst>
                <a:path h="107370" w="107370">
                  <a:moveTo>
                    <a:pt x="0" y="0"/>
                  </a:moveTo>
                  <a:lnTo>
                    <a:pt x="107370" y="0"/>
                  </a:lnTo>
                  <a:lnTo>
                    <a:pt x="107370" y="107370"/>
                  </a:lnTo>
                  <a:lnTo>
                    <a:pt x="0" y="107370"/>
                  </a:lnTo>
                  <a:close/>
                </a:path>
              </a:pathLst>
            </a:custGeom>
            <a:solidFill>
              <a:srgbClr val="FFDE59"/>
            </a:solidFill>
          </p:spPr>
        </p:sp>
        <p:sp>
          <p:nvSpPr>
            <p:cNvPr name="TextBox 26" id="26"/>
            <p:cNvSpPr txBox="true"/>
            <p:nvPr/>
          </p:nvSpPr>
          <p:spPr>
            <a:xfrm>
              <a:off x="0" y="-38100"/>
              <a:ext cx="107370" cy="145470"/>
            </a:xfrm>
            <a:prstGeom prst="rect">
              <a:avLst/>
            </a:prstGeom>
          </p:spPr>
          <p:txBody>
            <a:bodyPr anchor="ctr" rtlCol="false" tIns="50800" lIns="50800" bIns="50800" rIns="50800"/>
            <a:lstStyle/>
            <a:p>
              <a:pPr algn="ctr">
                <a:lnSpc>
                  <a:spcPts val="2940"/>
                </a:lnSpc>
              </a:pPr>
            </a:p>
          </p:txBody>
        </p:sp>
      </p:grpSp>
      <p:grpSp>
        <p:nvGrpSpPr>
          <p:cNvPr name="Group 27" id="27"/>
          <p:cNvGrpSpPr/>
          <p:nvPr/>
        </p:nvGrpSpPr>
        <p:grpSpPr>
          <a:xfrm rot="0">
            <a:off x="2815407" y="5204317"/>
            <a:ext cx="407670" cy="407670"/>
            <a:chOff x="0" y="0"/>
            <a:chExt cx="107370" cy="107370"/>
          </a:xfrm>
        </p:grpSpPr>
        <p:sp>
          <p:nvSpPr>
            <p:cNvPr name="Freeform 28" id="28"/>
            <p:cNvSpPr/>
            <p:nvPr/>
          </p:nvSpPr>
          <p:spPr>
            <a:xfrm flipH="false" flipV="false" rot="0">
              <a:off x="0" y="0"/>
              <a:ext cx="107370" cy="107370"/>
            </a:xfrm>
            <a:custGeom>
              <a:avLst/>
              <a:gdLst/>
              <a:ahLst/>
              <a:cxnLst/>
              <a:rect r="r" b="b" t="t" l="l"/>
              <a:pathLst>
                <a:path h="107370" w="107370">
                  <a:moveTo>
                    <a:pt x="0" y="0"/>
                  </a:moveTo>
                  <a:lnTo>
                    <a:pt x="107370" y="0"/>
                  </a:lnTo>
                  <a:lnTo>
                    <a:pt x="107370" y="107370"/>
                  </a:lnTo>
                  <a:lnTo>
                    <a:pt x="0" y="107370"/>
                  </a:lnTo>
                  <a:close/>
                </a:path>
              </a:pathLst>
            </a:custGeom>
            <a:solidFill>
              <a:srgbClr val="000000"/>
            </a:solidFill>
          </p:spPr>
        </p:sp>
        <p:sp>
          <p:nvSpPr>
            <p:cNvPr name="TextBox 29" id="29"/>
            <p:cNvSpPr txBox="true"/>
            <p:nvPr/>
          </p:nvSpPr>
          <p:spPr>
            <a:xfrm>
              <a:off x="0" y="-38100"/>
              <a:ext cx="107370" cy="145470"/>
            </a:xfrm>
            <a:prstGeom prst="rect">
              <a:avLst/>
            </a:prstGeom>
          </p:spPr>
          <p:txBody>
            <a:bodyPr anchor="ctr" rtlCol="false" tIns="50800" lIns="50800" bIns="50800" rIns="50800"/>
            <a:lstStyle/>
            <a:p>
              <a:pPr algn="ctr">
                <a:lnSpc>
                  <a:spcPts val="2940"/>
                </a:lnSpc>
              </a:pPr>
            </a:p>
          </p:txBody>
        </p:sp>
      </p:grpSp>
      <p:sp>
        <p:nvSpPr>
          <p:cNvPr name="TextBox 30" id="30"/>
          <p:cNvSpPr txBox="true"/>
          <p:nvPr/>
        </p:nvSpPr>
        <p:spPr>
          <a:xfrm rot="0">
            <a:off x="3392676" y="5086350"/>
            <a:ext cx="13733274" cy="514350"/>
          </a:xfrm>
          <a:prstGeom prst="rect">
            <a:avLst/>
          </a:prstGeom>
        </p:spPr>
        <p:txBody>
          <a:bodyPr anchor="t" rtlCol="false" tIns="0" lIns="0" bIns="0" rIns="0">
            <a:spAutoFit/>
          </a:bodyPr>
          <a:lstStyle/>
          <a:p>
            <a:pPr algn="l">
              <a:lnSpc>
                <a:spcPts val="4200"/>
              </a:lnSpc>
              <a:spcBef>
                <a:spcPct val="0"/>
              </a:spcBef>
            </a:pPr>
            <a:r>
              <a:rPr lang="en-US" sz="3000" b="true">
                <a:solidFill>
                  <a:srgbClr val="000000"/>
                </a:solidFill>
                <a:latin typeface="Inter Medium"/>
                <a:ea typeface="Inter Medium"/>
                <a:cs typeface="Inter Medium"/>
                <a:sym typeface="Inter Medium"/>
              </a:rPr>
              <a:t>Evaluate low-performing products to optimize pricing or discount stra</a:t>
            </a:r>
            <a:r>
              <a:rPr lang="en-US" sz="3000" b="true">
                <a:solidFill>
                  <a:srgbClr val="000000"/>
                </a:solidFill>
                <a:latin typeface="Inter Medium"/>
                <a:ea typeface="Inter Medium"/>
                <a:cs typeface="Inter Medium"/>
                <a:sym typeface="Inter Medium"/>
              </a:rPr>
              <a:t>tegies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89024" y="6918651"/>
            <a:ext cx="3086100" cy="6112748"/>
            <a:chOff x="0" y="0"/>
            <a:chExt cx="812800" cy="1609942"/>
          </a:xfrm>
        </p:grpSpPr>
        <p:sp>
          <p:nvSpPr>
            <p:cNvPr name="Freeform 3" id="3"/>
            <p:cNvSpPr/>
            <p:nvPr/>
          </p:nvSpPr>
          <p:spPr>
            <a:xfrm flipH="false" flipV="false" rot="0">
              <a:off x="0" y="0"/>
              <a:ext cx="812800" cy="1609942"/>
            </a:xfrm>
            <a:custGeom>
              <a:avLst/>
              <a:gdLst/>
              <a:ahLst/>
              <a:cxnLst/>
              <a:rect r="r" b="b" t="t" l="l"/>
              <a:pathLst>
                <a:path h="1609942" w="812800">
                  <a:moveTo>
                    <a:pt x="0" y="0"/>
                  </a:moveTo>
                  <a:lnTo>
                    <a:pt x="812800" y="0"/>
                  </a:lnTo>
                  <a:lnTo>
                    <a:pt x="812800" y="1609942"/>
                  </a:lnTo>
                  <a:lnTo>
                    <a:pt x="0" y="1609942"/>
                  </a:lnTo>
                  <a:close/>
                </a:path>
              </a:pathLst>
            </a:custGeom>
            <a:solidFill>
              <a:srgbClr val="000000"/>
            </a:solidFill>
          </p:spPr>
        </p:sp>
        <p:sp>
          <p:nvSpPr>
            <p:cNvPr name="TextBox 4" id="4"/>
            <p:cNvSpPr txBox="true"/>
            <p:nvPr/>
          </p:nvSpPr>
          <p:spPr>
            <a:xfrm>
              <a:off x="0" y="-38100"/>
              <a:ext cx="812800" cy="1648042"/>
            </a:xfrm>
            <a:prstGeom prst="rect">
              <a:avLst/>
            </a:prstGeom>
          </p:spPr>
          <p:txBody>
            <a:bodyPr anchor="ctr" rtlCol="false" tIns="50800" lIns="50800" bIns="50800" rIns="50800"/>
            <a:lstStyle/>
            <a:p>
              <a:pPr algn="ctr">
                <a:lnSpc>
                  <a:spcPts val="2940"/>
                </a:lnSpc>
              </a:pPr>
            </a:p>
          </p:txBody>
        </p:sp>
      </p:grpSp>
      <p:grpSp>
        <p:nvGrpSpPr>
          <p:cNvPr name="Group 5" id="5"/>
          <p:cNvGrpSpPr/>
          <p:nvPr/>
        </p:nvGrpSpPr>
        <p:grpSpPr>
          <a:xfrm rot="0">
            <a:off x="-512890" y="-409873"/>
            <a:ext cx="5170319" cy="1037229"/>
            <a:chOff x="0" y="0"/>
            <a:chExt cx="1361730" cy="273180"/>
          </a:xfrm>
        </p:grpSpPr>
        <p:sp>
          <p:nvSpPr>
            <p:cNvPr name="Freeform 6" id="6"/>
            <p:cNvSpPr/>
            <p:nvPr/>
          </p:nvSpPr>
          <p:spPr>
            <a:xfrm flipH="false" flipV="false" rot="0">
              <a:off x="0" y="0"/>
              <a:ext cx="1361730" cy="273180"/>
            </a:xfrm>
            <a:custGeom>
              <a:avLst/>
              <a:gdLst/>
              <a:ahLst/>
              <a:cxnLst/>
              <a:rect r="r" b="b" t="t" l="l"/>
              <a:pathLst>
                <a:path h="273180" w="1361730">
                  <a:moveTo>
                    <a:pt x="0" y="0"/>
                  </a:moveTo>
                  <a:lnTo>
                    <a:pt x="1361730" y="0"/>
                  </a:lnTo>
                  <a:lnTo>
                    <a:pt x="1361730" y="273180"/>
                  </a:lnTo>
                  <a:lnTo>
                    <a:pt x="0" y="273180"/>
                  </a:lnTo>
                  <a:close/>
                </a:path>
              </a:pathLst>
            </a:custGeom>
            <a:solidFill>
              <a:srgbClr val="FFDE59"/>
            </a:solidFill>
          </p:spPr>
        </p:sp>
        <p:sp>
          <p:nvSpPr>
            <p:cNvPr name="TextBox 7" id="7"/>
            <p:cNvSpPr txBox="true"/>
            <p:nvPr/>
          </p:nvSpPr>
          <p:spPr>
            <a:xfrm>
              <a:off x="0" y="-38100"/>
              <a:ext cx="1361730" cy="311280"/>
            </a:xfrm>
            <a:prstGeom prst="rect">
              <a:avLst/>
            </a:prstGeom>
          </p:spPr>
          <p:txBody>
            <a:bodyPr anchor="ctr" rtlCol="false" tIns="50800" lIns="50800" bIns="50800" rIns="50800"/>
            <a:lstStyle/>
            <a:p>
              <a:pPr algn="ctr">
                <a:lnSpc>
                  <a:spcPts val="2940"/>
                </a:lnSpc>
              </a:pPr>
            </a:p>
          </p:txBody>
        </p:sp>
      </p:grpSp>
      <p:sp>
        <p:nvSpPr>
          <p:cNvPr name="Freeform 8" id="8"/>
          <p:cNvSpPr/>
          <p:nvPr/>
        </p:nvSpPr>
        <p:spPr>
          <a:xfrm flipH="false" flipV="false" rot="0">
            <a:off x="1493221" y="4341213"/>
            <a:ext cx="579049" cy="579049"/>
          </a:xfrm>
          <a:custGeom>
            <a:avLst/>
            <a:gdLst/>
            <a:ahLst/>
            <a:cxnLst/>
            <a:rect r="r" b="b" t="t" l="l"/>
            <a:pathLst>
              <a:path h="579049" w="579049">
                <a:moveTo>
                  <a:pt x="0" y="0"/>
                </a:moveTo>
                <a:lnTo>
                  <a:pt x="579049" y="0"/>
                </a:lnTo>
                <a:lnTo>
                  <a:pt x="579049" y="579049"/>
                </a:lnTo>
                <a:lnTo>
                  <a:pt x="0" y="5790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512271" y="5320312"/>
            <a:ext cx="579049" cy="493770"/>
          </a:xfrm>
          <a:custGeom>
            <a:avLst/>
            <a:gdLst/>
            <a:ahLst/>
            <a:cxnLst/>
            <a:rect r="r" b="b" t="t" l="l"/>
            <a:pathLst>
              <a:path h="493770" w="579049">
                <a:moveTo>
                  <a:pt x="0" y="0"/>
                </a:moveTo>
                <a:lnTo>
                  <a:pt x="579049" y="0"/>
                </a:lnTo>
                <a:lnTo>
                  <a:pt x="579049" y="493770"/>
                </a:lnTo>
                <a:lnTo>
                  <a:pt x="0" y="4937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493221" y="6214132"/>
            <a:ext cx="531454" cy="531454"/>
          </a:xfrm>
          <a:custGeom>
            <a:avLst/>
            <a:gdLst/>
            <a:ahLst/>
            <a:cxnLst/>
            <a:rect r="r" b="b" t="t" l="l"/>
            <a:pathLst>
              <a:path h="531454" w="531454">
                <a:moveTo>
                  <a:pt x="0" y="0"/>
                </a:moveTo>
                <a:lnTo>
                  <a:pt x="531454" y="0"/>
                </a:lnTo>
                <a:lnTo>
                  <a:pt x="531454" y="531454"/>
                </a:lnTo>
                <a:lnTo>
                  <a:pt x="0" y="5314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442284" y="866775"/>
            <a:ext cx="11249969" cy="1533525"/>
          </a:xfrm>
          <a:prstGeom prst="rect">
            <a:avLst/>
          </a:prstGeom>
        </p:spPr>
        <p:txBody>
          <a:bodyPr anchor="t" rtlCol="false" tIns="0" lIns="0" bIns="0" rIns="0">
            <a:spAutoFit/>
          </a:bodyPr>
          <a:lstStyle/>
          <a:p>
            <a:pPr algn="l">
              <a:lnSpc>
                <a:spcPts val="12599"/>
              </a:lnSpc>
              <a:spcBef>
                <a:spcPct val="0"/>
              </a:spcBef>
            </a:pPr>
            <a:r>
              <a:rPr lang="en-US" sz="9000" b="true">
                <a:solidFill>
                  <a:srgbClr val="000000"/>
                </a:solidFill>
                <a:latin typeface="Inter Bold"/>
                <a:ea typeface="Inter Bold"/>
                <a:cs typeface="Inter Bold"/>
                <a:sym typeface="Inter Bold"/>
              </a:rPr>
              <a:t>Contact Information</a:t>
            </a:r>
          </a:p>
        </p:txBody>
      </p:sp>
      <p:sp>
        <p:nvSpPr>
          <p:cNvPr name="TextBox 12" id="12"/>
          <p:cNvSpPr txBox="true"/>
          <p:nvPr/>
        </p:nvSpPr>
        <p:spPr>
          <a:xfrm rot="0">
            <a:off x="1442284" y="3419829"/>
            <a:ext cx="8440584" cy="521335"/>
          </a:xfrm>
          <a:prstGeom prst="rect">
            <a:avLst/>
          </a:prstGeom>
        </p:spPr>
        <p:txBody>
          <a:bodyPr anchor="t" rtlCol="false" tIns="0" lIns="0" bIns="0" rIns="0">
            <a:spAutoFit/>
          </a:bodyPr>
          <a:lstStyle/>
          <a:p>
            <a:pPr algn="l">
              <a:lnSpc>
                <a:spcPts val="4340"/>
              </a:lnSpc>
              <a:spcBef>
                <a:spcPct val="0"/>
              </a:spcBef>
            </a:pPr>
            <a:r>
              <a:rPr lang="en-US" sz="3100">
                <a:solidFill>
                  <a:srgbClr val="000000"/>
                </a:solidFill>
                <a:latin typeface="Canva Sans"/>
                <a:ea typeface="Canva Sans"/>
                <a:cs typeface="Canva Sans"/>
                <a:sym typeface="Canva Sans"/>
              </a:rPr>
              <a:t>Data Analysis / Mathematics Student</a:t>
            </a:r>
          </a:p>
        </p:txBody>
      </p:sp>
      <p:sp>
        <p:nvSpPr>
          <p:cNvPr name="TextBox 13" id="13"/>
          <p:cNvSpPr txBox="true"/>
          <p:nvPr/>
        </p:nvSpPr>
        <p:spPr>
          <a:xfrm rot="0">
            <a:off x="2424590" y="4341495"/>
            <a:ext cx="8440584" cy="521335"/>
          </a:xfrm>
          <a:prstGeom prst="rect">
            <a:avLst/>
          </a:prstGeom>
        </p:spPr>
        <p:txBody>
          <a:bodyPr anchor="t" rtlCol="false" tIns="0" lIns="0" bIns="0" rIns="0">
            <a:spAutoFit/>
          </a:bodyPr>
          <a:lstStyle/>
          <a:p>
            <a:pPr algn="l">
              <a:lnSpc>
                <a:spcPts val="4340"/>
              </a:lnSpc>
              <a:spcBef>
                <a:spcPct val="0"/>
              </a:spcBef>
            </a:pPr>
            <a:r>
              <a:rPr lang="en-US" sz="3100">
                <a:solidFill>
                  <a:srgbClr val="474747"/>
                </a:solidFill>
                <a:latin typeface="Canva Sans"/>
                <a:ea typeface="Canva Sans"/>
                <a:cs typeface="Canva Sans"/>
                <a:sym typeface="Canva Sans"/>
              </a:rPr>
              <a:t>adwi52731@gmail.com</a:t>
            </a:r>
          </a:p>
        </p:txBody>
      </p:sp>
      <p:sp>
        <p:nvSpPr>
          <p:cNvPr name="TextBox 14" id="14"/>
          <p:cNvSpPr txBox="true"/>
          <p:nvPr/>
        </p:nvSpPr>
        <p:spPr>
          <a:xfrm rot="0">
            <a:off x="1442284" y="2743200"/>
            <a:ext cx="3628729" cy="581046"/>
          </a:xfrm>
          <a:prstGeom prst="rect">
            <a:avLst/>
          </a:prstGeom>
        </p:spPr>
        <p:txBody>
          <a:bodyPr anchor="t" rtlCol="false" tIns="0" lIns="0" bIns="0" rIns="0">
            <a:spAutoFit/>
          </a:bodyPr>
          <a:lstStyle/>
          <a:p>
            <a:pPr algn="l">
              <a:lnSpc>
                <a:spcPts val="4898"/>
              </a:lnSpc>
              <a:spcBef>
                <a:spcPct val="0"/>
              </a:spcBef>
            </a:pPr>
            <a:r>
              <a:rPr lang="en-US" sz="3498">
                <a:solidFill>
                  <a:srgbClr val="000000"/>
                </a:solidFill>
                <a:latin typeface="Canva Sans"/>
                <a:ea typeface="Canva Sans"/>
                <a:cs typeface="Canva Sans"/>
                <a:sym typeface="Canva Sans"/>
              </a:rPr>
              <a:t>Anisa Dwi Alfira</a:t>
            </a:r>
          </a:p>
        </p:txBody>
      </p:sp>
      <p:sp>
        <p:nvSpPr>
          <p:cNvPr name="TextBox 15" id="15"/>
          <p:cNvSpPr txBox="true"/>
          <p:nvPr/>
        </p:nvSpPr>
        <p:spPr>
          <a:xfrm rot="0">
            <a:off x="2424590" y="5292747"/>
            <a:ext cx="8440584" cy="521335"/>
          </a:xfrm>
          <a:prstGeom prst="rect">
            <a:avLst/>
          </a:prstGeom>
        </p:spPr>
        <p:txBody>
          <a:bodyPr anchor="t" rtlCol="false" tIns="0" lIns="0" bIns="0" rIns="0">
            <a:spAutoFit/>
          </a:bodyPr>
          <a:lstStyle/>
          <a:p>
            <a:pPr algn="l">
              <a:lnSpc>
                <a:spcPts val="4340"/>
              </a:lnSpc>
              <a:spcBef>
                <a:spcPct val="0"/>
              </a:spcBef>
            </a:pPr>
            <a:r>
              <a:rPr lang="en-US" sz="3100">
                <a:solidFill>
                  <a:srgbClr val="474747"/>
                </a:solidFill>
                <a:latin typeface="Canva Sans"/>
                <a:ea typeface="Canva Sans"/>
                <a:cs typeface="Canva Sans"/>
                <a:sym typeface="Canva Sans"/>
              </a:rPr>
              <a:t>linkedin.com/in/anisa-dwi-alfira-b66aab326</a:t>
            </a:r>
          </a:p>
        </p:txBody>
      </p:sp>
      <p:sp>
        <p:nvSpPr>
          <p:cNvPr name="TextBox 16" id="16"/>
          <p:cNvSpPr txBox="true"/>
          <p:nvPr/>
        </p:nvSpPr>
        <p:spPr>
          <a:xfrm rot="0">
            <a:off x="2424590" y="6156982"/>
            <a:ext cx="8440584" cy="521335"/>
          </a:xfrm>
          <a:prstGeom prst="rect">
            <a:avLst/>
          </a:prstGeom>
        </p:spPr>
        <p:txBody>
          <a:bodyPr anchor="t" rtlCol="false" tIns="0" lIns="0" bIns="0" rIns="0">
            <a:spAutoFit/>
          </a:bodyPr>
          <a:lstStyle/>
          <a:p>
            <a:pPr algn="l">
              <a:lnSpc>
                <a:spcPts val="4340"/>
              </a:lnSpc>
              <a:spcBef>
                <a:spcPct val="0"/>
              </a:spcBef>
            </a:pPr>
            <a:r>
              <a:rPr lang="en-US" sz="3100">
                <a:solidFill>
                  <a:srgbClr val="474747"/>
                </a:solidFill>
                <a:latin typeface="Canva Sans"/>
                <a:ea typeface="Canva Sans"/>
                <a:cs typeface="Canva Sans"/>
                <a:sym typeface="Canva Sans"/>
              </a:rPr>
              <a:t>github.com/AnisaDwiAlfira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DAG9cwBB2Fs</dc:identifier>
  <dcterms:modified xsi:type="dcterms:W3CDTF">2011-08-01T06:04:30Z</dcterms:modified>
  <cp:revision>1</cp:revision>
  <dc:title>PORTOFOLIO</dc:title>
</cp:coreProperties>
</file>